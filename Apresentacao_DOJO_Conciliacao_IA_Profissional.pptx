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1"/>
  </p:sld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Lst>
  <p:sldSz cx="12192000" cy="6858000" type="screen16x9"/>
  <p:notesSz cx="6858000" cy="9144000"/>
</p:presentation>
</file>

<file path=ppt/_rels/presentation.xml.rels><?xml version="1.0" encoding="UTF-8" standalone="yes"?>
<Relationships xmlns="http://schemas.openxmlformats.org/package/2006/relationships">
  
    <Relationship Id="rIdMaster1" Type="http://schemas.openxmlformats.org/officeDocument/2006/relationships/slideMaster" Target="slideMasters/slideMaster1.xml"/>
    <Relationship Id="rIdTheme1" Type="http://schemas.openxmlformats.org/officeDocument/2006/relationships/theme" Target="theme/theme1.xml"/>
  <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
</Relationships>
</file>

<file path=ppt/notesSlides/_rels/notesSlide1.xml.rels><?xml version="1.0" encoding="UTF-8" standalone="yes"?>
<Relationships xmlns="http://schemas.openxmlformats.org/package/2006/relationships">
  <Relationship Id="rIdSlide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Slide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Slide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Slide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Slide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Slide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Slide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Slide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Slide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Slide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Slide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Slide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Slide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Slide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Slide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Slide1"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Bom dia/boa tarde a todos. Apresentamos hoje o resultado do projeto Concilia, desenvolvido no âmbito do nosso DOJO de Inteligência Artificial. O objetivo central deste DOJO não foi criar uma automação teórica, mas aprender na prática como a IA generativa pode acelerar a engenharia de software para resolver uma das dores operacionais mais complexas da empresa: a conciliação entre o razão contábil do ERP Protheus e os extratos bancários. Mostraremos a evolução da arquitetura, os critérios rígidos de negócio e como garantimos determinismo e auditoria em 100% dos lançamentos.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No cenário tradicional de fechamento contábil, o analista passa dias fazendo um trabalho predominantemente mecânico: abrindo o razão do Protheus de um lado e o extrato bancário do outro, conferindo linha por linha o que bate. Isso gera três grandes problemas: alto consumo de tempo operacional, risco de passar divergências despercebidas por cansaço visual e baixa rastreabilidade para auditoria. A proposta do Concilia é inverter esse fluxo: a máquina resolve o óbvio em segundos e o profissional atua onde o julgamento humano é insubstituível.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Para mensurar a escala do desafio: a empresa opera aproximadamente 83 contas bancárias ativas em cerca de 22 bancos diferentes. Cada instituição entrega planilhas com colunas e nomenclaturas distintas. Em uma única conta corrente de porte médio, observamos mais de 2.050 linhas em um só mês. Multiplicar isso por 83 contas demonstra a inviabilidade de manter um processo puramente manual sem abrir mão da agilidade ou da segurança contábil.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No início do DOJO, a nossa primeira hipótese foi usar o n8n integrando com chamadas de API para um modelo de linguagem de baixo custo. A intenção era ter um fluxo rápido e sem código. No entanto, ao colocarmos dados contábeis reais, descobrimos as limitações dessa abordagem: o processamento via prompt não garante determinismo, pode gerar respostas diferentes para o mesmo arquivo e o envio de milhares de linhas gera um custo desnecessário e risco de contexto.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O momento mais importante do DOJO foi a decisão do pivô técnico. Percebemos que contabilidade e finanças exigem determinismo absoluto: se executarmos a conciliação hoje ou daqui a um ano, o resultado para os mesmos arquivos deve ser rigorosamente idêntico. Uma LLM não deve decidir se R$ 1.500,20 bate com R$ 1.500,00. A IA foi então reposicionada: ela atuou como desenvolvedora de ponta, programando um motor algorítmico robusto em TypeScript com regras matemáticas estritas.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A solução final foi estruturada em duas partes principais: uma Aplicação Web moderna em Next.js para que qualquer analista contábil possa operar a ferramenta sem barreiras técnicas, e um pacote central chamado @conciliacao/core que executa todo o pipeline de regras de forma isolada, rápida e auditável. O sistema não exige banco de dados complexo para operar: o usuário faz o upload do razão e dos extratos, o motor processa e devolve os resultados na tela e em planilha.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Durante o DOJO, combinamos diferentes ferramentas de IA de forma complementar. Usamos o ChatGPT para estruturar a engenharia de requisitos e os documentos técnicos contábeis. O ChatGPT com Codex auxiliou na criação rápida de componentes de UI. E o Antigravity com o modelo Gemini 3.7 Flash foi o nosso orquestrador principal de engenharia, responsável por arquitetar o motor central, programar os parsers e garantir que cada regra possuísse testes automatizados que impedissem falsos positivos.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Este diagrama ilustra o ciclo de vida completo de uma conciliação: o usuário faz o upload dos arquivos brutos; a camada de parsers tabulares converte layouts heterogêneos para transações canônicas padronizadas em centavos; o motor core processa em cascata as regras RF-01 a RF-09; a interface exibe as informações no painel interativo; e, se necessário, gera uma planilha Excel com 9 abas prontas para auditoria.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Aqui vemos o painel principal do Concilia logo após a execução. No topo, os cards de KPIs trazem os totais consolidados: saldo do razão, saldo do extrato, diferença apurada e taxa de cobertura. Logo abaixo, o analista navega pelas abas organizadas por tipo de regra. Se ele clicar em 'Exatos', vê os matches 1:1; se clicar em 'Divergências', acessa diretamente os lançamentos que exigem ação manual, podendo abrir o detalhamento de qualquer linha com um clique.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Aqui detalhamos as primeiras 5 regras do motor de conciliação, extraídas diretamente da codebase. O RF-01 limpa as aplicações automáticas para não poluir as pendências contábeis. O RF-02 faz a conciliação exata 1:1 em centavos. O RF-03 trata compensações em D+1 ou D+3 (como fins de semana), usando score semântico de histórico para evitar casar pagamentos diferentes de mesmo valor. E os RF-04 e RF-05 resolvem os agrupamentos 1:N (borderôs e SISPAG) e N:1 (recebimentos fracionados).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Na segunda parte das regras, temos a nossa blindagem contra erros. O RF-06 impede agrupamentos matemáticos acidentais exigindo coerência documental (número de título ou documento). O RF-07 concilia blocos diários fechados. O RF-08 trata estornos bancários que se anulam internamente sem impacto contábil. E o RF-09 é o coração da auditoria: ele isola exatamente o que sobrou sem conciliar, separando em 'Apenas no Extrato' (tarifas não lançadas) e 'Apenas no Razão' (pagamentos não compensados).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Uma das maiores inovações técnicas do projeto foi o parser universal de extratos bancários. Em vez de criarmos 83 parsers manuais (um para cada conta), implementamos um pipeline que usa SheetJS para ler planilhas com segurança, classifica automaticamente as abas úteis, mapeia cabeçalhos por aliases semânticos e normaliza datas e valores para um modelo canônico em centavos inteiros. Isso permite adicionar novos bancos sem alterar o código do motor.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O razão contábil emitido pelo Protheus possui peculiaridades: cabeçalhos repetidos ao longo do documento, totalizadores no meio dos dados e a conta contábil frequentemente informada em uma linha de texto separada. O nosso parser trata todas essas variações de forma limpa. Na imagem à direita, vemos a tela de gestão de empresas e contas, onde vinculamos a conta contábil ao respectivo banco e agência, garantindo que o matching ocorra apenas entre contas autorizadas.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A rastreabilidade contábil é um dos pontos fortes do sistema. Como demonstrado no print, ao clicar em qualquer item da conciliação, um drawer lateral exibe a evidência completa: os lançamentos contábeis de um lado, os movimentos bancários do outro, a regra exata utilizada, a diferença em centavos e a linha original de onde a informação foi extraída. Isso elimina qualquer dúvida em auditorias.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Este quadro resume os ganhos que observamos: o tempo total de preparação e fechamento cai de cerca de 2 dias úteis para aproximadamente 80 minutos. Em uma conta com mais de 2.000 lançamentos, o motor fez todo o matching em segundos. Mas o maior ganho não é apenas velocidade: é a qualidade da informação e a tranquilidade de saber que 100% dos lançamentos foram criticados com rigor matemático.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a:t>Para encerrar: onde estamos e para onde vamos. Em apenas duas semanas de desenvolvimento apoiado por IA, entregamos o MVP funcional com a conciliação completa de uma conta piloto validada de ponta a ponta. O próximo passo é avançar para a Conciliação Tripla: integrar o Extrato Financeiro do Protheus (SE5) com o Razão Contábil (CT2) e o Extrato Bancário Real, garantindo que as três pontas cheguem ao mesmo saldo. O DOJO de IA cumpriu seu objetivo prático com excelência. Muito obrigado e estamos abertos a perguntas!</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Layout1" Type="http://schemas.openxmlformats.org/officeDocument/2006/relationships/slideLayout" Target="../slideLayouts/slideLayout1.xml"/>
  <Relationship Id="rIdTheme1"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Layout1"/>
  </p:sldLayoutIdLst>
</p:sldMaster>
</file>

<file path=ppt/slides/_rels/slide1.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9.xml"/>
    <Relationship Id="rIdImg1" Type="http://schemas.openxmlformats.org/officeDocument/2006/relationships/image" Target="../media/image1.png"/>
</Relationships>
</file>

<file path=ppt/slides/_rels/slide10.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13.xml"/>
    <Relationship Id="rIdImg3" Type="http://schemas.openxmlformats.org/officeDocument/2006/relationships/image" Target="../media/image3.png"/>
</Relationships>
</file>

<file path=ppt/slides/_rels/slide14.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14.xml"/>
    <Relationship Id="rIdImg2" Type="http://schemas.openxmlformats.org/officeDocument/2006/relationships/image" Target="../media/image2.png"/>
</Relationships>
</file>

<file path=ppt/slides/_rels/slide15.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Layout1" Type="http://schemas.openxmlformats.org/officeDocument/2006/relationships/slideLayout" Target="../slideLayouts/slideLayout1.xml"/>
      <Relationship Id="rIdNotes1"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Dark"/>
          <p:cNvSpPr/>
          <p:nvPr/>
        </p:nvSpPr>
        <p:spPr>
          <a:xfrm>
            <a:off x="0" y="0"/>
            <a:ext cx="12192000" cy="6858000"/>
          </a:xfrm>
          <a:prstGeom prst="rect">
            <a:avLst/>
          </a:prstGeom>
          <a:solidFill>
            <a:srgbClr val="0F172A"/>
          </a:solidFill>
          <a:ln>
            <a:noFill/>
          </a:ln>
        </p:spPr>
        <p:txBody>
          <a:bodyPr vert="horz" lIns="140000" tIns="120000" rIns="140000" bIns="120000" anchor="t"/>
          <a:lstStyle/>
        </p:txBody>
      </p:sp>
      <p:sp>
        <p:nvSpPr>
          <p:cNvPr id="3" name="BrandBar"/>
          <p:cNvSpPr/>
          <p:nvPr/>
        </p:nvSpPr>
        <p:spPr>
          <a:xfrm>
            <a:off x="800000" y="600000"/>
            <a:ext cx="48000" cy="5200000"/>
          </a:xfrm>
          <a:prstGeom prst="rect">
            <a:avLst/>
          </a:prstGeom>
          <a:solidFill>
            <a:srgbClr val="F59E0B"/>
          </a:solidFill>
          <a:ln>
            <a:noFill/>
          </a:ln>
        </p:spPr>
        <p:txBody>
          <a:bodyPr vert="horz" lIns="140000" tIns="120000" rIns="140000" bIns="120000" anchor="t"/>
          <a:lstStyle/>
        </p:txBody>
      </p:sp>
      <p:sp>
        <p:nvSpPr>
          <p:cNvPr id="4" name="Tag"/>
          <p:cNvSpPr/>
          <p:nvPr/>
        </p:nvSpPr>
        <p:spPr>
          <a:xfrm>
            <a:off x="1000000" y="800000"/>
            <a:ext cx="3200000" cy="360000"/>
          </a:xfrm>
          <a:prstGeom prst="roundRect">
            <a:avLst>
              <a:gd name="adj" fmla="val 12000"/>
            </a:avLst>
          </a:prstGeom>
          <a:solidFill>
            <a:srgbClr val="1E293B"/>
          </a:solidFill>
          <a:ln w="12700">
            <a:solidFill>
              <a:srgbClr val="334155"/>
            </a:solidFill>
          </a:ln>
        </p:spPr>
        <p:txBody>
          <a:bodyPr vert="horz" lIns="140000" tIns="120000" rIns="140000" bIns="120000" anchor="t"/>
          <a:lstStyle/>
          <a:p>
            <a:pPr algn="ctr"/>
            <a:r>
              <a:rPr lang="pt-BR" sz="1000" b="1">
                <a:solidFill>
                  <a:srgbClr val="FBBF24"/>
                </a:solidFill>
                <a:latin typeface="Calibri"/>
              </a:rPr>
              <a:t>PROJETO DOJO DE IA · 2026</a:t>
            </a:r>
          </a:p>
        </p:txBody>
      </p:sp>
      <p:sp>
        <p:nvSpPr>
          <p:cNvPr id="5" name="Title"/>
          <p:cNvSpPr/>
          <p:nvPr/>
        </p:nvSpPr>
        <p:spPr>
          <a:xfrm>
            <a:off x="1000000" y="1350000"/>
            <a:ext cx="10200000" cy="1900000"/>
          </a:xfrm>
          <a:prstGeom prst="rect">
            <a:avLst/>
          </a:prstGeom>
          <a:noFill/>
          <a:ln>
            <a:noFill/>
          </a:ln>
        </p:spPr>
        <p:txBody>
          <a:bodyPr vert="horz" lIns="140000" tIns="120000" rIns="140000" bIns="120000" anchor="t"/>
          <a:lstStyle/>
          <a:p>
            <a:pPr algn="l">
              <a:spcAft>
                <a:spcPts val="400"/>
              </a:spcAft>
            </a:pPr>
            <a:r>
              <a:rPr lang="pt-BR" sz="4000" b="1" i="0">
                <a:solidFill>
                  <a:srgbClr val="FFFFFF"/>
                </a:solidFill>
                <a:latin typeface="Calibri"/>
              </a:rPr>
              <a:t>Concilia</a:t>
            </a:r>
          </a:p>
          <a:p>
            <a:pPr algn="l">
              <a:spcAft>
                <a:spcPts val="800"/>
              </a:spcAft>
            </a:pPr>
            <a:r>
              <a:rPr lang="pt-BR" sz="2200" b="1" i="0">
                <a:solidFill>
                  <a:srgbClr val="38BDF8"/>
                </a:solidFill>
                <a:latin typeface="Calibri"/>
              </a:rPr>
              <a:t>Automação de Conciliação Bancária &amp; Contábil</a:t>
            </a:r>
          </a:p>
          <a:p>
            <a:pPr algn="l"/>
            <a:r>
              <a:rPr lang="pt-BR" sz="1300" b="0" i="0">
                <a:solidFill>
                  <a:srgbClr val="94A3B8"/>
                </a:solidFill>
                <a:latin typeface="Calibri"/>
              </a:rPr>
              <a:t>Do Conceito Tradicional à Solução Determinística e Escalável: Razão Protheus × Extratos Bancários</a:t>
            </a:r>
          </a:p>
        </p:txBody>
      </p:sp>
      <p:sp>
        <p:nvSpPr>
          <p:cNvPr id="6" name="Card1"/>
          <p:cNvSpPr/>
          <p:nvPr/>
        </p:nvSpPr>
        <p:spPr>
          <a:xfrm>
            <a:off x="1000000" y="3600000"/>
            <a:ext cx="3250000" cy="2200000"/>
          </a:xfrm>
          <a:prstGeom prst="roundRect">
            <a:avLst>
              <a:gd name="adj" fmla="val 10000"/>
            </a:avLst>
          </a:prstGeom>
          <a:solidFill>
            <a:srgbClr val="1E293B"/>
          </a:solidFill>
          <a:ln w="12700">
            <a:solidFill>
              <a:srgbClr val="334155"/>
            </a:solidFill>
          </a:ln>
        </p:spPr>
        <p:txBody>
          <a:bodyPr vert="horz" lIns="140000" tIns="120000" rIns="140000" bIns="120000" anchor="t"/>
          <a:lstStyle/>
          <a:p>
            <a:pPr algn="l">
              <a:spcAft>
                <a:spcPts val="800"/>
              </a:spcAft>
            </a:pPr>
            <a:r>
              <a:rPr lang="pt-BR" sz="1100" b="1" i="0">
                <a:solidFill>
                  <a:srgbClr val="38BDF8"/>
                </a:solidFill>
                <a:latin typeface="Calibri"/>
              </a:rPr>
              <a:t>🎯 OBJETIVO DO DOJO</a:t>
            </a:r>
          </a:p>
          <a:p>
            <a:pPr algn="l"/>
            <a:r>
              <a:rPr lang="pt-BR" sz="1100" b="0" i="0">
                <a:solidFill>
                  <a:srgbClr val="E2E8F0"/>
                </a:solidFill>
                <a:latin typeface="Calibri"/>
              </a:rPr>
              <a:t>Aprender na prática como aplicar IA na engenharia de software para construir uma solução real, segura e de alta precisão contábil.</a:t>
            </a:r>
          </a:p>
        </p:txBody>
      </p:sp>
      <p:sp>
        <p:nvSpPr>
          <p:cNvPr id="7" name="Card2"/>
          <p:cNvSpPr/>
          <p:nvPr/>
        </p:nvSpPr>
        <p:spPr>
          <a:xfrm>
            <a:off x="4450000" y="3600000"/>
            <a:ext cx="3250000" cy="2200000"/>
          </a:xfrm>
          <a:prstGeom prst="roundRect">
            <a:avLst>
              <a:gd name="adj" fmla="val 10000"/>
            </a:avLst>
          </a:prstGeom>
          <a:solidFill>
            <a:srgbClr val="1E293B"/>
          </a:solidFill>
          <a:ln w="12700">
            <a:solidFill>
              <a:srgbClr val="334155"/>
            </a:solidFill>
          </a:ln>
        </p:spPr>
        <p:txBody>
          <a:bodyPr vert="horz" lIns="140000" tIns="120000" rIns="140000" bIns="120000" anchor="t"/>
          <a:lstStyle/>
          <a:p>
            <a:pPr algn="l">
              <a:spcAft>
                <a:spcPts val="800"/>
              </a:spcAft>
            </a:pPr>
            <a:r>
              <a:rPr lang="pt-BR" sz="1100" b="1" i="0">
                <a:solidFill>
                  <a:srgbClr val="4ADE80"/>
                </a:solidFill>
                <a:latin typeface="Calibri"/>
              </a:rPr>
              <a:t>⏱️ GANHO DE PRODUTIVIDADE</a:t>
            </a:r>
          </a:p>
          <a:p>
            <a:pPr algn="l"/>
            <a:r>
              <a:rPr lang="pt-BR" sz="1100" b="0" i="0">
                <a:solidFill>
                  <a:srgbClr val="E2E8F0"/>
                </a:solidFill>
                <a:latin typeface="Calibri"/>
              </a:rPr>
              <a:t>Redução estimada de 2 dias úteis de conferência manual para ~80 minutos por ciclo, com processamento em lote.</a:t>
            </a:r>
          </a:p>
        </p:txBody>
      </p:sp>
      <p:sp>
        <p:nvSpPr>
          <p:cNvPr id="8" name="Card3"/>
          <p:cNvSpPr/>
          <p:nvPr/>
        </p:nvSpPr>
        <p:spPr>
          <a:xfrm>
            <a:off x="7900000" y="3600000"/>
            <a:ext cx="3300000" cy="2200000"/>
          </a:xfrm>
          <a:prstGeom prst="roundRect">
            <a:avLst>
              <a:gd name="adj" fmla="val 10000"/>
            </a:avLst>
          </a:prstGeom>
          <a:solidFill>
            <a:srgbClr val="1E293B"/>
          </a:solidFill>
          <a:ln w="12700">
            <a:solidFill>
              <a:srgbClr val="334155"/>
            </a:solidFill>
          </a:ln>
        </p:spPr>
        <p:txBody>
          <a:bodyPr vert="horz" lIns="140000" tIns="120000" rIns="140000" bIns="120000" anchor="t"/>
          <a:lstStyle/>
          <a:p>
            <a:pPr algn="l">
              <a:spcAft>
                <a:spcPts val="800"/>
              </a:spcAft>
            </a:pPr>
            <a:r>
              <a:rPr lang="pt-BR" sz="1100" b="1" i="0">
                <a:solidFill>
                  <a:srgbClr val="FBBF24"/>
                </a:solidFill>
                <a:latin typeface="Calibri"/>
              </a:rPr>
              <a:t>🛡️ DETERMINISMO ABSOLUTO</a:t>
            </a:r>
          </a:p>
          <a:p>
            <a:pPr algn="l"/>
            <a:r>
              <a:rPr lang="pt-BR" sz="1100" b="0" i="0">
                <a:solidFill>
                  <a:srgbClr val="E2E8F0"/>
                </a:solidFill>
                <a:latin typeface="Calibri"/>
              </a:rPr>
              <a:t>IA utilizada como aceleradora de desenvolvimento; motor central em TypeScript com regras matemáticas e precisão em centavos.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CONTEXTO DE NEGÓCIO</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O Desafio da Conciliação Contábil Manual</a:t>
            </a:r>
          </a:p>
          <a:p>
            <a:pPr algn="l"/>
            <a:r>
              <a:rPr lang="pt-BR" sz="1100" b="0" i="0">
                <a:solidFill>
                  <a:srgbClr val="64748B"/>
                </a:solidFill>
                <a:latin typeface="Calibri"/>
              </a:rPr>
              <a:t>Conferência manual repetitiva, sobrecarga operacional e baixa rastreabilidade</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02</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Pain1"/>
          <p:cNvSpPr/>
          <p:nvPr/>
        </p:nvSpPr>
        <p:spPr>
          <a:xfrm>
            <a:off x="800000" y="1750000"/>
            <a:ext cx="3350000" cy="3300000"/>
          </a:xfrm>
          <a:prstGeom prst="roundRect">
            <a:avLst>
              <a:gd name="adj" fmla="val 10000"/>
            </a:avLst>
          </a:prstGeom>
          <a:solidFill>
            <a:srgbClr val="FFFFFF"/>
          </a:solidFill>
          <a:ln w="12700">
            <a:solidFill>
              <a:srgbClr val="E2E8F0"/>
            </a:solidFill>
          </a:ln>
        </p:spPr>
        <p:txBody>
          <a:bodyPr vert="horz" lIns="140000" tIns="120000" rIns="140000" bIns="120000" anchor="t"/>
          <a:lstStyle/>
          <a:p>
            <a:pPr algn="l">
              <a:spcAft>
                <a:spcPts val="800"/>
              </a:spcAft>
            </a:pPr>
            <a:r>
              <a:rPr lang="pt-BR" sz="1200" b="1" i="0">
                <a:solidFill>
                  <a:srgbClr val="DC2626"/>
                </a:solidFill>
                <a:latin typeface="Calibri"/>
              </a:rPr>
              <a:t>⏳ ESFORÇO OPERACIONAL</a:t>
            </a:r>
          </a:p>
          <a:p>
            <a:pPr algn="l">
              <a:spcAft>
                <a:spcPts val="600"/>
              </a:spcAft>
            </a:pPr>
            <a:r>
              <a:rPr lang="pt-BR" sz="1100" b="0" i="0">
                <a:solidFill>
                  <a:srgbClr val="334155"/>
                </a:solidFill>
                <a:latin typeface="Calibri"/>
              </a:rPr>
              <a:t>O analista gasta a maior parte do fechamento 'ticando' lançamentos manuais em planilhas do Excel.</a:t>
            </a:r>
          </a:p>
          <a:p>
            <a:pPr algn="l"/>
            <a:r>
              <a:rPr lang="pt-BR" sz="1000" b="0" i="0">
                <a:solidFill>
                  <a:srgbClr val="64748B"/>
                </a:solidFill>
                <a:latin typeface="Calibri"/>
              </a:rPr>
              <a:t>Processo exaustivo que consome tempo precioso que deveria ser dedicado à análise de divergências relevantes.</a:t>
            </a:r>
          </a:p>
        </p:txBody>
      </p:sp>
      <p:sp>
        <p:nvSpPr>
          <p:cNvPr id="11" name="Pain2"/>
          <p:cNvSpPr/>
          <p:nvPr/>
        </p:nvSpPr>
        <p:spPr>
          <a:xfrm>
            <a:off x="4420000" y="1750000"/>
            <a:ext cx="3350000" cy="3300000"/>
          </a:xfrm>
          <a:prstGeom prst="roundRect">
            <a:avLst>
              <a:gd name="adj" fmla="val 10000"/>
            </a:avLst>
          </a:prstGeom>
          <a:solidFill>
            <a:srgbClr val="FFFFFF"/>
          </a:solidFill>
          <a:ln w="12700">
            <a:solidFill>
              <a:srgbClr val="E2E8F0"/>
            </a:solidFill>
          </a:ln>
        </p:spPr>
        <p:txBody>
          <a:bodyPr vert="horz" lIns="140000" tIns="120000" rIns="140000" bIns="120000" anchor="t"/>
          <a:lstStyle/>
          <a:p>
            <a:pPr algn="l">
              <a:spcAft>
                <a:spcPts val="800"/>
              </a:spcAft>
            </a:pPr>
            <a:r>
              <a:rPr lang="pt-BR" sz="1200" b="1" i="0">
                <a:solidFill>
                  <a:srgbClr val="D97706"/>
                </a:solidFill>
                <a:latin typeface="Calibri"/>
              </a:rPr>
              <a:t>⚠️ RISCO DE INCONSISTÊNCIA</a:t>
            </a:r>
          </a:p>
          <a:p>
            <a:pPr algn="l">
              <a:spcAft>
                <a:spcPts val="600"/>
              </a:spcAft>
            </a:pPr>
            <a:r>
              <a:rPr lang="pt-BR" sz="1100" b="0" i="0">
                <a:solidFill>
                  <a:srgbClr val="334155"/>
                </a:solidFill>
                <a:latin typeface="Calibri"/>
              </a:rPr>
              <a:t>Encontrar pequenas diferenças de centavos em milhares de linhas gera fadiga e risco de erro humano.</a:t>
            </a:r>
          </a:p>
          <a:p>
            <a:pPr algn="l"/>
            <a:r>
              <a:rPr lang="pt-BR" sz="1000" b="0" i="0">
                <a:solidFill>
                  <a:srgbClr val="64748B"/>
                </a:solidFill>
                <a:latin typeface="Calibri"/>
              </a:rPr>
              <a:t>Dificuldade em identificar se a diferença decorre de tarifas não contabilizadas, compensações em trânsito ou erros.</a:t>
            </a:r>
          </a:p>
        </p:txBody>
      </p:sp>
      <p:sp>
        <p:nvSpPr>
          <p:cNvPr id="12" name="Pain3"/>
          <p:cNvSpPr/>
          <p:nvPr/>
        </p:nvSpPr>
        <p:spPr>
          <a:xfrm>
            <a:off x="8040000" y="1750000"/>
            <a:ext cx="3350000" cy="3300000"/>
          </a:xfrm>
          <a:prstGeom prst="roundRect">
            <a:avLst>
              <a:gd name="adj" fmla="val 10000"/>
            </a:avLst>
          </a:prstGeom>
          <a:solidFill>
            <a:srgbClr val="FFFFFF"/>
          </a:solidFill>
          <a:ln w="12700">
            <a:solidFill>
              <a:srgbClr val="E2E8F0"/>
            </a:solidFill>
          </a:ln>
        </p:spPr>
        <p:txBody>
          <a:bodyPr vert="horz" lIns="140000" tIns="120000" rIns="140000" bIns="120000" anchor="t"/>
          <a:lstStyle/>
          <a:p>
            <a:pPr algn="l">
              <a:spcAft>
                <a:spcPts val="800"/>
              </a:spcAft>
            </a:pPr>
            <a:r>
              <a:rPr lang="pt-BR" sz="1200" b="1" i="0">
                <a:solidFill>
                  <a:srgbClr val="1E3A8A"/>
                </a:solidFill>
                <a:latin typeface="Calibri"/>
              </a:rPr>
              <a:t>🔍 BAIXA RASTREABILIDADE</a:t>
            </a:r>
          </a:p>
          <a:p>
            <a:pPr algn="l">
              <a:spcAft>
                <a:spcPts val="600"/>
              </a:spcAft>
            </a:pPr>
            <a:r>
              <a:rPr lang="pt-BR" sz="1100" b="0" i="0">
                <a:solidFill>
                  <a:srgbClr val="334155"/>
                </a:solidFill>
                <a:latin typeface="Calibri"/>
              </a:rPr>
              <a:t>Dificuldade de documentar evidências claras para revisores e auditoria interna/externa.</a:t>
            </a:r>
          </a:p>
          <a:p>
            <a:pPr algn="l"/>
            <a:r>
              <a:rPr lang="pt-BR" sz="1000" b="0" i="0">
                <a:solidFill>
                  <a:srgbClr val="64748B"/>
                </a:solidFill>
                <a:latin typeface="Calibri"/>
              </a:rPr>
              <a:t>As justificativas ficam dispersas em anotações informais e e-mails, sem vínculo direto com o arquivo de origem.</a:t>
            </a:r>
          </a:p>
        </p:txBody>
      </p:sp>
      <p:sp>
        <p:nvSpPr>
          <p:cNvPr id="13" name="ParadigmShift"/>
          <p:cNvSpPr/>
          <p:nvPr/>
        </p:nvSpPr>
        <p:spPr>
          <a:xfrm>
            <a:off x="800000" y="5250000"/>
            <a:ext cx="10592000" cy="950000"/>
          </a:xfrm>
          <a:prstGeom prst="roundRect">
            <a:avLst>
              <a:gd name="adj" fmla="val 8000"/>
            </a:avLst>
          </a:prstGeom>
          <a:solidFill>
            <a:srgbClr val="EFF6FF"/>
          </a:solidFill>
          <a:ln w="12700">
            <a:solidFill>
              <a:srgbClr val="BFDBFE"/>
            </a:solidFill>
          </a:ln>
        </p:spPr>
        <p:txBody>
          <a:bodyPr vert="horz" lIns="140000" tIns="120000" rIns="140000" bIns="120000" anchor="t"/>
          <a:lstStyle/>
          <a:p>
            <a:pPr algn="l">
              <a:spcAft>
                <a:spcPts val="300"/>
              </a:spcAft>
            </a:pPr>
            <a:r>
              <a:rPr lang="pt-BR" sz="1100" b="1" i="0">
                <a:solidFill>
                  <a:srgbClr val="1D4ED8"/>
                </a:solidFill>
                <a:latin typeface="Calibri"/>
              </a:rPr>
              <a:t>💡 INVERSÃO DE PARADIGMA PROPOSTA:</a:t>
            </a:r>
          </a:p>
          <a:p>
            <a:pPr algn="l"/>
            <a:r>
              <a:rPr lang="pt-BR" sz="1100" b="0" i="0">
                <a:solidFill>
                  <a:srgbClr val="1E293B"/>
                </a:solidFill>
                <a:latin typeface="Calibri"/>
              </a:rPr>
              <a:t>A automação assume 100% da verificação das correspondências matemáticas óbvias; o analista concentra sua atenção técnica exclusivamente nas divergências reais e exceções contábeis.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ESCALA &amp; VOLUMETRIA</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Dimensões e Complexidade do Fechamento</a:t>
            </a:r>
          </a:p>
          <a:p>
            <a:pPr algn="l"/>
            <a:r>
              <a:rPr lang="pt-BR" sz="1100" b="0" i="0">
                <a:solidFill>
                  <a:srgbClr val="64748B"/>
                </a:solidFill>
                <a:latin typeface="Calibri"/>
              </a:rPr>
              <a:t>Volume de contas, multiplicidade de bancos e quantidade massiva de lançamentos</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03</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Metric1"/>
          <p:cNvSpPr/>
          <p:nvPr/>
        </p:nvSpPr>
        <p:spPr>
          <a:xfrm>
            <a:off x="800000" y="1750000"/>
            <a:ext cx="2450000" cy="2100000"/>
          </a:xfrm>
          <a:prstGeom prst="roundRect">
            <a:avLst>
              <a:gd name="adj" fmla="val 10000"/>
            </a:avLst>
          </a:prstGeom>
          <a:solidFill>
            <a:srgbClr val="FFFFFF"/>
          </a:solidFill>
          <a:ln w="12700">
            <a:solidFill>
              <a:srgbClr val="CBD5E1"/>
            </a:solidFill>
          </a:ln>
        </p:spPr>
        <p:txBody>
          <a:bodyPr vert="horz" lIns="140000" tIns="120000" rIns="140000" bIns="120000" anchor="t"/>
          <a:lstStyle/>
          <a:p>
            <a:pPr algn="ctr">
              <a:spcAft>
                <a:spcPts val="400"/>
              </a:spcAft>
            </a:pPr>
            <a:r>
              <a:rPr lang="pt-BR" sz="3800" b="1" i="0">
                <a:solidFill>
                  <a:srgbClr val="1D4ED8"/>
                </a:solidFill>
                <a:latin typeface="Calibri"/>
              </a:rPr>
              <a:t>83</a:t>
            </a:r>
          </a:p>
          <a:p>
            <a:pPr algn="ctr">
              <a:spcAft>
                <a:spcPts val="200"/>
              </a:spcAft>
            </a:pPr>
            <a:r>
              <a:rPr lang="pt-BR" sz="1300" b="1" i="0">
                <a:solidFill>
                  <a:srgbClr val="0F172A"/>
                </a:solidFill>
                <a:latin typeface="Calibri"/>
              </a:rPr>
              <a:t>Contas Bancárias</a:t>
            </a:r>
          </a:p>
          <a:p>
            <a:pPr algn="ctr"/>
            <a:r>
              <a:rPr lang="pt-BR" sz="1000" b="0" i="0">
                <a:solidFill>
                  <a:srgbClr val="64748B"/>
                </a:solidFill>
                <a:latin typeface="Calibri"/>
              </a:rPr>
              <a:t>Distribuídas em várias empresas e filiais</a:t>
            </a:r>
          </a:p>
        </p:txBody>
      </p:sp>
      <p:sp>
        <p:nvSpPr>
          <p:cNvPr id="11" name="Metric2"/>
          <p:cNvSpPr/>
          <p:nvPr/>
        </p:nvSpPr>
        <p:spPr>
          <a:xfrm>
            <a:off x="3514000" y="1750000"/>
            <a:ext cx="2450000" cy="2100000"/>
          </a:xfrm>
          <a:prstGeom prst="roundRect">
            <a:avLst>
              <a:gd name="adj" fmla="val 10000"/>
            </a:avLst>
          </a:prstGeom>
          <a:solidFill>
            <a:srgbClr val="FFFFFF"/>
          </a:solidFill>
          <a:ln w="12700">
            <a:solidFill>
              <a:srgbClr val="CBD5E1"/>
            </a:solidFill>
          </a:ln>
        </p:spPr>
        <p:txBody>
          <a:bodyPr vert="horz" lIns="140000" tIns="120000" rIns="140000" bIns="120000" anchor="t"/>
          <a:lstStyle/>
          <a:p>
            <a:pPr algn="ctr">
              <a:spcAft>
                <a:spcPts val="400"/>
              </a:spcAft>
            </a:pPr>
            <a:r>
              <a:rPr lang="pt-BR" sz="3800" b="1" i="0">
                <a:solidFill>
                  <a:srgbClr val="0D9488"/>
                </a:solidFill>
                <a:latin typeface="Calibri"/>
              </a:rPr>
              <a:t>~22</a:t>
            </a:r>
          </a:p>
          <a:p>
            <a:pPr algn="ctr">
              <a:spcAft>
                <a:spcPts val="200"/>
              </a:spcAft>
            </a:pPr>
            <a:r>
              <a:rPr lang="pt-BR" sz="1300" b="1" i="0">
                <a:solidFill>
                  <a:srgbClr val="0F172A"/>
                </a:solidFill>
                <a:latin typeface="Calibri"/>
              </a:rPr>
              <a:t>Instituições Financeiras</a:t>
            </a:r>
          </a:p>
          <a:p>
            <a:pPr algn="ctr"/>
            <a:r>
              <a:rPr lang="pt-BR" sz="1000" b="0" i="0">
                <a:solidFill>
                  <a:srgbClr val="64748B"/>
                </a:solidFill>
                <a:latin typeface="Calibri"/>
              </a:rPr>
              <a:t>Layouts, colunas e padrões heterogêneos</a:t>
            </a:r>
          </a:p>
        </p:txBody>
      </p:sp>
      <p:sp>
        <p:nvSpPr>
          <p:cNvPr id="12" name="Metric3"/>
          <p:cNvSpPr/>
          <p:nvPr/>
        </p:nvSpPr>
        <p:spPr>
          <a:xfrm>
            <a:off x="6228000" y="1750000"/>
            <a:ext cx="2450000" cy="2100000"/>
          </a:xfrm>
          <a:prstGeom prst="roundRect">
            <a:avLst>
              <a:gd name="adj" fmla="val 10000"/>
            </a:avLst>
          </a:prstGeom>
          <a:solidFill>
            <a:srgbClr val="FFFFFF"/>
          </a:solidFill>
          <a:ln w="12700">
            <a:solidFill>
              <a:srgbClr val="CBD5E1"/>
            </a:solidFill>
          </a:ln>
        </p:spPr>
        <p:txBody>
          <a:bodyPr vert="horz" lIns="140000" tIns="120000" rIns="140000" bIns="120000" anchor="t"/>
          <a:lstStyle/>
          <a:p>
            <a:pPr algn="ctr">
              <a:spcAft>
                <a:spcPts val="400"/>
              </a:spcAft>
            </a:pPr>
            <a:r>
              <a:rPr lang="pt-BR" sz="3800" b="1" i="0">
                <a:solidFill>
                  <a:srgbClr val="D97706"/>
                </a:solidFill>
                <a:latin typeface="Calibri"/>
              </a:rPr>
              <a:t>2.057</a:t>
            </a:r>
          </a:p>
          <a:p>
            <a:pPr algn="ctr">
              <a:spcAft>
                <a:spcPts val="200"/>
              </a:spcAft>
            </a:pPr>
            <a:r>
              <a:rPr lang="pt-BR" sz="1300" b="1" i="0">
                <a:solidFill>
                  <a:srgbClr val="0F172A"/>
                </a:solidFill>
                <a:latin typeface="Calibri"/>
              </a:rPr>
              <a:t>Linhas em 1 Banco</a:t>
            </a:r>
          </a:p>
          <a:p>
            <a:pPr algn="ctr"/>
            <a:r>
              <a:rPr lang="pt-BR" sz="1000" b="0" i="0">
                <a:solidFill>
                  <a:srgbClr val="64748B"/>
                </a:solidFill>
                <a:latin typeface="Calibri"/>
              </a:rPr>
              <a:t>Volume mensal observado em conta média</a:t>
            </a:r>
          </a:p>
        </p:txBody>
      </p:sp>
      <p:sp>
        <p:nvSpPr>
          <p:cNvPr id="13" name="Metric4"/>
          <p:cNvSpPr/>
          <p:nvPr/>
        </p:nvSpPr>
        <p:spPr>
          <a:xfrm>
            <a:off x="8942000" y="1750000"/>
            <a:ext cx="2450000" cy="2100000"/>
          </a:xfrm>
          <a:prstGeom prst="roundRect">
            <a:avLst>
              <a:gd name="adj" fmla="val 10000"/>
            </a:avLst>
          </a:prstGeom>
          <a:solidFill>
            <a:srgbClr val="FFFFFF"/>
          </a:solidFill>
          <a:ln w="12700">
            <a:solidFill>
              <a:srgbClr val="CBD5E1"/>
            </a:solidFill>
          </a:ln>
        </p:spPr>
        <p:txBody>
          <a:bodyPr vert="horz" lIns="140000" tIns="120000" rIns="140000" bIns="120000" anchor="t"/>
          <a:lstStyle/>
          <a:p>
            <a:pPr algn="ctr">
              <a:spcAft>
                <a:spcPts val="400"/>
              </a:spcAft>
            </a:pPr>
            <a:r>
              <a:rPr lang="pt-BR" sz="3800" b="1" i="0">
                <a:solidFill>
                  <a:srgbClr val="DC2626"/>
                </a:solidFill>
                <a:latin typeface="Calibri"/>
              </a:rPr>
              <a:t>2 Dias</a:t>
            </a:r>
          </a:p>
          <a:p>
            <a:pPr algn="ctr">
              <a:spcAft>
                <a:spcPts val="200"/>
              </a:spcAft>
            </a:pPr>
            <a:r>
              <a:rPr lang="pt-BR" sz="1300" b="1" i="0">
                <a:solidFill>
                  <a:srgbClr val="0F172A"/>
                </a:solidFill>
                <a:latin typeface="Calibri"/>
              </a:rPr>
              <a:t>Tempo Tradicional</a:t>
            </a:r>
          </a:p>
          <a:p>
            <a:pPr algn="ctr"/>
            <a:r>
              <a:rPr lang="pt-BR" sz="1000" b="0" i="0">
                <a:solidFill>
                  <a:srgbClr val="64748B"/>
                </a:solidFill>
                <a:latin typeface="Calibri"/>
              </a:rPr>
              <a:t>Dedicado à conferência manual por conta</a:t>
            </a:r>
          </a:p>
        </p:txBody>
      </p:sp>
      <p:sp>
        <p:nvSpPr>
          <p:cNvPr id="14" name="ContextDetail"/>
          <p:cNvSpPr/>
          <p:nvPr/>
        </p:nvSpPr>
        <p:spPr>
          <a:xfrm>
            <a:off x="800000" y="4100000"/>
            <a:ext cx="10592000" cy="2100000"/>
          </a:xfrm>
          <a:prstGeom prst="roundRect">
            <a:avLst>
              <a:gd name="adj" fmla="val 10000"/>
            </a:avLst>
          </a:prstGeom>
          <a:solidFill>
            <a:srgbClr val="FFFFFF"/>
          </a:solidFill>
          <a:ln w="12700">
            <a:solidFill>
              <a:srgbClr val="CBD5E1"/>
            </a:solidFill>
          </a:ln>
        </p:spPr>
        <p:txBody>
          <a:bodyPr vert="horz" lIns="140000" tIns="120000" rIns="140000" bIns="120000" anchor="t"/>
          <a:lstStyle/>
          <a:p>
            <a:pPr algn="l">
              <a:spcAft>
                <a:spcPts val="600"/>
              </a:spcAft>
            </a:pPr>
            <a:r>
              <a:rPr lang="pt-BR" sz="1200" b="1" i="0">
                <a:solidFill>
                  <a:srgbClr val="1E3A8A"/>
                </a:solidFill>
                <a:latin typeface="Calibri"/>
              </a:rPr>
              <a:t>📊 HETEROGENEIDADE DOS DADOS BANCÁRIOS:</a:t>
            </a:r>
          </a:p>
          <a:p>
            <a:pPr algn="l">
              <a:spcAft>
                <a:spcPts val="400"/>
              </a:spcAft>
            </a:pPr>
            <a:r>
              <a:rPr lang="pt-BR" sz="1050" b="0" i="0">
                <a:solidFill>
                  <a:srgbClr val="334155"/>
                </a:solidFill>
                <a:latin typeface="Calibri"/>
              </a:rPr>
              <a:t>• Cada banco exporta extratos com layouts distintos: uns usam colunas separadas para débito e crédito, outros usam sinal negativo, enquanto outros utilizam colunas de natureza (C/D) ou saldos acumulados intercalados.</a:t>
            </a:r>
          </a:p>
          <a:p>
            <a:pPr algn="l"/>
            <a:r>
              <a:rPr lang="pt-BR" sz="1050" b="0" i="0">
                <a:solidFill>
                  <a:srgbClr val="334155"/>
                </a:solidFill>
                <a:latin typeface="Calibri"/>
              </a:rPr>
              <a:t>• O Razão Contábil do Protheus apresenta relatórios analíticos paginados, com cabeçalhos repetidos, totalizadores intermediários e metadados de contas contábeis que exigem higienização e tratamento específico.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APRENDIZADO NO DOJO</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Fase 1: A Hipótese de Automação via n8n + LLM</a:t>
            </a:r>
          </a:p>
          <a:p>
            <a:pPr algn="l"/>
            <a:r>
              <a:rPr lang="pt-BR" sz="1100" b="0" i="0">
                <a:solidFill>
                  <a:srgbClr val="64748B"/>
                </a:solidFill>
                <a:latin typeface="Calibri"/>
              </a:rPr>
              <a:t>A exploração inicial de fluxos no-code e modelos de linguagem de baixo custo</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04</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Block1"/>
          <p:cNvSpPr/>
          <p:nvPr/>
        </p:nvSpPr>
        <p:spPr>
          <a:xfrm>
            <a:off x="800000" y="1750000"/>
            <a:ext cx="3350000" cy="4400000"/>
          </a:xfrm>
          <a:prstGeom prst="roundRect">
            <a:avLst>
              <a:gd name="adj" fmla="val 10000"/>
            </a:avLst>
          </a:prstGeom>
          <a:solidFill>
            <a:srgbClr val="FFFFFF"/>
          </a:solidFill>
          <a:ln w="12700">
            <a:solidFill>
              <a:srgbClr val="E2E8F0"/>
            </a:solidFill>
          </a:ln>
        </p:spPr>
        <p:txBody>
          <a:bodyPr vert="horz" lIns="140000" tIns="120000" rIns="140000" bIns="120000" anchor="t"/>
          <a:lstStyle/>
          <a:p>
            <a:pPr algn="l">
              <a:spcAft>
                <a:spcPts val="400"/>
              </a:spcAft>
            </a:pPr>
            <a:r>
              <a:rPr lang="pt-BR" sz="2400" b="1" i="0">
                <a:solidFill>
                  <a:srgbClr val="64748B"/>
                </a:solidFill>
                <a:latin typeface="Calibri"/>
              </a:rPr>
              <a:t>01</a:t>
            </a:r>
          </a:p>
          <a:p>
            <a:pPr algn="l">
              <a:spcAft>
                <a:spcPts val="1000"/>
              </a:spcAft>
            </a:pPr>
            <a:r>
              <a:rPr lang="pt-BR" sz="1300" b="1" i="0">
                <a:solidFill>
                  <a:srgbClr val="0F172A"/>
                </a:solidFill>
                <a:latin typeface="Calibri"/>
              </a:rPr>
              <a:t>PROPOSTA INICIAL</a:t>
            </a:r>
          </a:p>
          <a:p>
            <a:pPr algn="l"/>
            <a:r>
              <a:rPr lang="pt-BR" sz="1100" b="0" i="0">
                <a:solidFill>
                  <a:srgbClr val="334155"/>
                </a:solidFill>
                <a:latin typeface="Calibri"/>
              </a:rPr>
              <a:t>• Ideia de construir automação via n8n integrada com IA generativa de baixo custo.
• Prompts solicitando a comparação direta entre tabelas do razão e do extrato.
• Foco em baixo custo inicial e velocidade de prototipação no-code.</a:t>
            </a:r>
          </a:p>
        </p:txBody>
      </p:sp>
      <p:sp>
        <p:nvSpPr>
          <p:cNvPr id="11" name="Block2"/>
          <p:cNvSpPr/>
          <p:nvPr/>
        </p:nvSpPr>
        <p:spPr>
          <a:xfrm>
            <a:off x="4420000" y="1750000"/>
            <a:ext cx="3350000" cy="4400000"/>
          </a:xfrm>
          <a:prstGeom prst="roundRect">
            <a:avLst>
              <a:gd name="adj" fmla="val 10000"/>
            </a:avLst>
          </a:prstGeom>
          <a:solidFill>
            <a:srgbClr val="FFFFFF"/>
          </a:solidFill>
          <a:ln w="12700">
            <a:solidFill>
              <a:srgbClr val="E2E8F0"/>
            </a:solidFill>
          </a:ln>
        </p:spPr>
        <p:txBody>
          <a:bodyPr vert="horz" lIns="140000" tIns="120000" rIns="140000" bIns="120000" anchor="t"/>
          <a:lstStyle/>
          <a:p>
            <a:pPr algn="l">
              <a:spcAft>
                <a:spcPts val="400"/>
              </a:spcAft>
            </a:pPr>
            <a:r>
              <a:rPr lang="pt-BR" sz="2400" b="1" i="0">
                <a:solidFill>
                  <a:srgbClr val="D97706"/>
                </a:solidFill>
                <a:latin typeface="Calibri"/>
              </a:rPr>
              <a:t>02</a:t>
            </a:r>
          </a:p>
          <a:p>
            <a:pPr algn="l">
              <a:spcAft>
                <a:spcPts val="1000"/>
              </a:spcAft>
            </a:pPr>
            <a:r>
              <a:rPr lang="pt-BR" sz="1300" b="1" i="0">
                <a:solidFill>
                  <a:srgbClr val="0F172A"/>
                </a:solidFill>
                <a:latin typeface="Calibri"/>
              </a:rPr>
              <a:t>EXPERIMENTAÇÃO</a:t>
            </a:r>
          </a:p>
          <a:p>
            <a:pPr algn="l"/>
            <a:r>
              <a:rPr lang="pt-BR" sz="1100" b="0" i="0">
                <a:solidFill>
                  <a:srgbClr val="334155"/>
                </a:solidFill>
                <a:latin typeface="Calibri"/>
              </a:rPr>
              <a:t>• Envio de amostras reais de extrato e razão para processamento por LLM.
• Tentativa de extrair correspondências 1 para 1 e agrupamentos via raciocínio da IA.
• Avaliação da consistência dos resultados em múltiplos lotes de teste.</a:t>
            </a:r>
          </a:p>
        </p:txBody>
      </p:sp>
      <p:sp>
        <p:nvSpPr>
          <p:cNvPr id="12" name="Block3"/>
          <p:cNvSpPr/>
          <p:nvPr/>
        </p:nvSpPr>
        <p:spPr>
          <a:xfrm>
            <a:off x="8040000" y="1750000"/>
            <a:ext cx="3350000" cy="4400000"/>
          </a:xfrm>
          <a:prstGeom prst="roundRect">
            <a:avLst>
              <a:gd name="adj" fmla="val 10000"/>
            </a:avLst>
          </a:prstGeom>
          <a:solidFill>
            <a:srgbClr val="FEF2F2"/>
          </a:solidFill>
          <a:ln w="12700">
            <a:solidFill>
              <a:srgbClr val="FECACA"/>
            </a:solidFill>
          </a:ln>
        </p:spPr>
        <p:txBody>
          <a:bodyPr vert="horz" lIns="140000" tIns="120000" rIns="140000" bIns="120000" anchor="t"/>
          <a:lstStyle/>
          <a:p>
            <a:pPr algn="l">
              <a:spcAft>
                <a:spcPts val="400"/>
              </a:spcAft>
            </a:pPr>
            <a:r>
              <a:rPr lang="pt-BR" sz="2400" b="1" i="0">
                <a:solidFill>
                  <a:srgbClr val="DC2626"/>
                </a:solidFill>
                <a:latin typeface="Calibri"/>
              </a:rPr>
              <a:t>03</a:t>
            </a:r>
          </a:p>
          <a:p>
            <a:pPr algn="l">
              <a:spcAft>
                <a:spcPts val="1000"/>
              </a:spcAft>
            </a:pPr>
            <a:r>
              <a:rPr lang="pt-BR" sz="1300" b="1" i="0">
                <a:solidFill>
                  <a:srgbClr val="991B1B"/>
                </a:solidFill>
                <a:latin typeface="Calibri"/>
              </a:rPr>
              <a:t>GARGALOS ENCONTRADOS</a:t>
            </a:r>
          </a:p>
          <a:p>
            <a:pPr algn="l"/>
            <a:r>
              <a:rPr lang="pt-BR" sz="1100" b="0" i="0">
                <a:solidFill>
                  <a:srgbClr val="7F1D1D"/>
                </a:solidFill>
                <a:latin typeface="Calibri"/>
              </a:rPr>
              <a:t>• Não-determinismo: a mesma planilha gerava correspondências diferentes em execuções repetidas.
• Custo de tokens imprevisível para arquivos com milhares de linhas.
• Ausência de interface segura e auditável para os analistas contábeis.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DECISÃO DE ENGENHARIA</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Fase 2: O Pivô Estratégico para um Motor Determinístico</a:t>
            </a:r>
          </a:p>
          <a:p>
            <a:pPr algn="l"/>
            <a:r>
              <a:rPr lang="pt-BR" sz="1100" b="0" i="0">
                <a:solidFill>
                  <a:srgbClr val="64748B"/>
                </a:solidFill>
                <a:latin typeface="Calibri"/>
              </a:rPr>
              <a:t>Por que a conciliação contábil não pode depender de decisões probabilísticas</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05</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RiskBox"/>
          <p:cNvSpPr/>
          <p:nvPr/>
        </p:nvSpPr>
        <p:spPr>
          <a:xfrm>
            <a:off x="800000" y="1750000"/>
            <a:ext cx="5150000" cy="3200000"/>
          </a:xfrm>
          <a:prstGeom prst="roundRect">
            <a:avLst>
              <a:gd name="adj" fmla="val 10000"/>
            </a:avLst>
          </a:prstGeom>
          <a:solidFill>
            <a:srgbClr val="FEF2F2"/>
          </a:solidFill>
          <a:ln w="12700">
            <a:solidFill>
              <a:srgbClr val="FECACA"/>
            </a:solidFill>
          </a:ln>
        </p:spPr>
        <p:txBody>
          <a:bodyPr vert="horz" lIns="140000" tIns="120000" rIns="140000" bIns="120000" anchor="t"/>
          <a:lstStyle/>
          <a:p>
            <a:pPr algn="l">
              <a:spcAft>
                <a:spcPts val="800"/>
              </a:spcAft>
            </a:pPr>
            <a:r>
              <a:rPr lang="pt-BR" sz="1200" b="1" i="0">
                <a:solidFill>
                  <a:srgbClr val="DC2626"/>
                </a:solidFill>
                <a:latin typeface="Calibri"/>
              </a:rPr>
              <a:t>❌ RISCOS DA IA GENERATIVA PURA NA CONCILIAÇÃO</a:t>
            </a:r>
          </a:p>
          <a:p>
            <a:pPr algn="l"/>
            <a:r>
              <a:rPr lang="pt-BR" sz="1050" b="0" i="0">
                <a:solidFill>
                  <a:srgbClr val="7F1D1D"/>
                </a:solidFill>
                <a:latin typeface="Calibri"/>
              </a:rPr>
              <a:t>• Risco de Falso Positivo: Um modelo generativo pode casar lançamentos incorretos por mera semelhança textual, mascarando desvios contábeis.
• Alucinação em Valores: Modelos de linguagem não operam como calculadoras de ponto fixo e podem errar centavos em operações aritméticas.
• Caixa-Preta sem Auditoria: Dificuldade de gerar evidências legais reproduzíveis exigidas por órgãos fiscalizadores e auditorias.</a:t>
            </a:r>
          </a:p>
        </p:txBody>
      </p:sp>
      <p:sp>
        <p:nvSpPr>
          <p:cNvPr id="11" name="MotorBox"/>
          <p:cNvSpPr/>
          <p:nvPr/>
        </p:nvSpPr>
        <p:spPr>
          <a:xfrm>
            <a:off x="6242000" y="1750000"/>
            <a:ext cx="5150000" cy="3200000"/>
          </a:xfrm>
          <a:prstGeom prst="roundRect">
            <a:avLst>
              <a:gd name="adj" fmla="val 10000"/>
            </a:avLst>
          </a:prstGeom>
          <a:solidFill>
            <a:srgbClr val="F0FDF4"/>
          </a:solidFill>
          <a:ln w="12700">
            <a:solidFill>
              <a:srgbClr val="BBF7D0"/>
            </a:solidFill>
          </a:ln>
        </p:spPr>
        <p:txBody>
          <a:bodyPr vert="horz" lIns="140000" tIns="120000" rIns="140000" bIns="120000" anchor="t"/>
          <a:lstStyle/>
          <a:p>
            <a:pPr algn="l">
              <a:spcAft>
                <a:spcPts val="800"/>
              </a:spcAft>
            </a:pPr>
            <a:r>
              <a:rPr lang="pt-BR" sz="1200" b="1" i="0">
                <a:solidFill>
                  <a:srgbClr val="16A34A"/>
                </a:solidFill>
                <a:latin typeface="Calibri"/>
              </a:rPr>
              <a:t>✨ O PAPEL IDEAL DA IA E O MOTOR DETERMINÍSTICO</a:t>
            </a:r>
          </a:p>
          <a:p>
            <a:pPr algn="l"/>
            <a:r>
              <a:rPr lang="pt-BR" sz="1050" b="0" i="0">
                <a:solidFill>
                  <a:srgbClr val="14532D"/>
                </a:solidFill>
                <a:latin typeface="Calibri"/>
              </a:rPr>
              <a:t>• IA na Engenharia: Usar a IA para acelerar a escrita do código, criar parsers resilientes e arquitetar suítes de testes automatizados.
• Motor em Centavos Inteiros (BigInt): Cálculos exatos sem perda de precisão de ponto flutuante.
• Regras Explícitas e Auditáveis: Cada conciliação aponta a regra aplicada (RF-01 a RF-09), a linha original e o valor exato.</a:t>
            </a:r>
          </a:p>
        </p:txBody>
      </p:sp>
      <p:sp>
        <p:nvSpPr>
          <p:cNvPr id="12" name="GoldenPrinciple"/>
          <p:cNvSpPr/>
          <p:nvPr/>
        </p:nvSpPr>
        <p:spPr>
          <a:xfrm>
            <a:off x="800000" y="5150000"/>
            <a:ext cx="10592000" cy="1050000"/>
          </a:xfrm>
          <a:prstGeom prst="roundRect">
            <a:avLst>
              <a:gd name="adj" fmla="val 8000"/>
            </a:avLst>
          </a:prstGeom>
          <a:solidFill>
            <a:srgbClr val="0F172A"/>
          </a:solidFill>
          <a:ln>
            <a:noFill/>
          </a:ln>
        </p:spPr>
        <p:txBody>
          <a:bodyPr vert="horz" lIns="140000" tIns="120000" rIns="140000" bIns="120000" anchor="t"/>
          <a:lstStyle/>
          <a:p>
            <a:pPr algn="l">
              <a:spcAft>
                <a:spcPts val="300"/>
              </a:spcAft>
            </a:pPr>
            <a:r>
              <a:rPr lang="pt-BR" sz="1200" b="1" i="0">
                <a:solidFill>
                  <a:srgbClr val="FBBF24"/>
                </a:solidFill>
                <a:latin typeface="Calibri"/>
              </a:rPr>
              <a:t>🛡️ PRINCÍPIO CONTÁBIL: ZERO TOLERÂNCIA A FALSO POSITIVO</a:t>
            </a:r>
          </a:p>
          <a:p>
            <a:pPr algn="l"/>
            <a:r>
              <a:rPr lang="pt-BR" sz="1050" b="0" i="0">
                <a:solidFill>
                  <a:srgbClr val="E2E8F0"/>
                </a:solidFill>
                <a:latin typeface="Calibri"/>
              </a:rPr>
              <a:t>Em conciliação contábil, é preferível isolar um lançamento duvidoso como pendência para revisão humana do que aprovar uma conciliação com baixa confiança.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SOLUÇÃO DESENVOLVIDA</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Fase 3: Aplicação Web + Motor Core Modular</a:t>
            </a:r>
          </a:p>
          <a:p>
            <a:pPr algn="l"/>
            <a:r>
              <a:rPr lang="pt-BR" sz="1100" b="0" i="0">
                <a:solidFill>
                  <a:srgbClr val="64748B"/>
                </a:solidFill>
                <a:latin typeface="Calibri"/>
              </a:rPr>
              <a:t>Arquitetura limpa, interface acessível para a equipe e processamento determinístico</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06</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Pillar1"/>
          <p:cNvSpPr/>
          <p:nvPr/>
        </p:nvSpPr>
        <p:spPr>
          <a:xfrm>
            <a:off x="800000" y="1750000"/>
            <a:ext cx="3350000" cy="4400000"/>
          </a:xfrm>
          <a:prstGeom prst="roundRect">
            <a:avLst>
              <a:gd name="adj" fmla="val 10000"/>
            </a:avLst>
          </a:prstGeom>
          <a:solidFill>
            <a:srgbClr val="FFFFFF"/>
          </a:solidFill>
          <a:ln w="12700">
            <a:solidFill>
              <a:srgbClr val="CBD5E1"/>
            </a:solidFill>
          </a:ln>
        </p:spPr>
        <p:txBody>
          <a:bodyPr vert="horz" lIns="140000" tIns="120000" rIns="140000" bIns="120000" anchor="t"/>
          <a:lstStyle/>
          <a:p>
            <a:pPr algn="l">
              <a:spcAft>
                <a:spcPts val="800"/>
              </a:spcAft>
            </a:pPr>
            <a:r>
              <a:rPr lang="pt-BR" sz="1300" b="1" i="0">
                <a:solidFill>
                  <a:srgbClr val="1E3A8A"/>
                </a:solidFill>
                <a:latin typeface="Calibri"/>
              </a:rPr>
              <a:t>🌐 APLICAÇÃO WEB</a:t>
            </a:r>
          </a:p>
          <a:p>
            <a:pPr algn="l">
              <a:spcAft>
                <a:spcPts val="1200"/>
              </a:spcAft>
            </a:pPr>
            <a:r>
              <a:rPr lang="pt-BR" sz="1100" b="1" i="0">
                <a:solidFill>
                  <a:srgbClr val="64748B"/>
                </a:solidFill>
                <a:latin typeface="Calibri"/>
              </a:rPr>
              <a:t>Next.js + React</a:t>
            </a:r>
          </a:p>
          <a:p>
            <a:pPr algn="l"/>
            <a:r>
              <a:rPr lang="pt-BR" sz="1100" b="0" i="0">
                <a:solidFill>
                  <a:srgbClr val="334155"/>
                </a:solidFill>
                <a:latin typeface="Calibri"/>
              </a:rPr>
              <a:t>• Interface moderna desenvolvida para uso diário da equipe contábil.
• Drag-and-drop de arquivos com pré-análise e confirmação de contas.
• Filtros rápidos por regra, status, valores e períodos.
• Histórico de conciliações anteriores.</a:t>
            </a:r>
          </a:p>
        </p:txBody>
      </p:sp>
      <p:sp>
        <p:nvSpPr>
          <p:cNvPr id="11" name="Pillar2"/>
          <p:cNvSpPr/>
          <p:nvPr/>
        </p:nvSpPr>
        <p:spPr>
          <a:xfrm>
            <a:off x="4420000" y="1750000"/>
            <a:ext cx="3350000" cy="4400000"/>
          </a:xfrm>
          <a:prstGeom prst="roundRect">
            <a:avLst>
              <a:gd name="adj" fmla="val 10000"/>
            </a:avLst>
          </a:prstGeom>
          <a:solidFill>
            <a:srgbClr val="FFFFFF"/>
          </a:solidFill>
          <a:ln w="25400">
            <a:solidFill>
              <a:srgbClr val="1D4ED8"/>
            </a:solidFill>
          </a:ln>
        </p:spPr>
        <p:txBody>
          <a:bodyPr vert="horz" lIns="140000" tIns="120000" rIns="140000" bIns="120000" anchor="t"/>
          <a:lstStyle/>
          <a:p>
            <a:pPr algn="l">
              <a:spcAft>
                <a:spcPts val="800"/>
              </a:spcAft>
            </a:pPr>
            <a:r>
              <a:rPr lang="pt-BR" sz="1300" b="1" i="0">
                <a:solidFill>
                  <a:srgbClr val="1D4ED8"/>
                </a:solidFill>
                <a:latin typeface="Calibri"/>
              </a:rPr>
              <a:t>⚙️ MOTOR CORE</a:t>
            </a:r>
          </a:p>
          <a:p>
            <a:pPr algn="l">
              <a:spcAft>
                <a:spcPts val="1200"/>
              </a:spcAft>
            </a:pPr>
            <a:r>
              <a:rPr lang="pt-BR" sz="1100" b="1" i="0">
                <a:solidFill>
                  <a:srgbClr val="64748B"/>
                </a:solidFill>
                <a:latin typeface="Calibri"/>
              </a:rPr>
              <a:t>@conciliacao/core</a:t>
            </a:r>
          </a:p>
          <a:p>
            <a:pPr algn="l"/>
            <a:r>
              <a:rPr lang="pt-BR" sz="1100" b="0" i="0">
                <a:solidFill>
                  <a:srgbClr val="334155"/>
                </a:solidFill>
                <a:latin typeface="Calibri"/>
              </a:rPr>
              <a:t>• Biblioteca TypeScript pura e desacoplada de banco de dados.
• Regras RF-01 a RF-09 executadas em cascata determinística.
• Cálculos matemáticos em centavos inteiros (BigInt).
• Cobertura abrangente de testes unitários e de integração.</a:t>
            </a:r>
          </a:p>
        </p:txBody>
      </p:sp>
      <p:sp>
        <p:nvSpPr>
          <p:cNvPr id="12" name="Pillar3"/>
          <p:cNvSpPr/>
          <p:nvPr/>
        </p:nvSpPr>
        <p:spPr>
          <a:xfrm>
            <a:off x="8040000" y="1750000"/>
            <a:ext cx="3350000" cy="4400000"/>
          </a:xfrm>
          <a:prstGeom prst="roundRect">
            <a:avLst>
              <a:gd name="adj" fmla="val 10000"/>
            </a:avLst>
          </a:prstGeom>
          <a:solidFill>
            <a:srgbClr val="FFFFFF"/>
          </a:solidFill>
          <a:ln w="12700">
            <a:solidFill>
              <a:srgbClr val="CBD5E1"/>
            </a:solidFill>
          </a:ln>
        </p:spPr>
        <p:txBody>
          <a:bodyPr vert="horz" lIns="140000" tIns="120000" rIns="140000" bIns="120000" anchor="t"/>
          <a:lstStyle/>
          <a:p>
            <a:pPr algn="l">
              <a:spcAft>
                <a:spcPts val="800"/>
              </a:spcAft>
            </a:pPr>
            <a:r>
              <a:rPr lang="pt-BR" sz="1300" b="1" i="0">
                <a:solidFill>
                  <a:srgbClr val="0D9488"/>
                </a:solidFill>
                <a:latin typeface="Calibri"/>
              </a:rPr>
              <a:t>📑 EVIDÊNCIA &amp; EXPORTAÇÃO</a:t>
            </a:r>
          </a:p>
          <a:p>
            <a:pPr algn="l">
              <a:spcAft>
                <a:spcPts val="1200"/>
              </a:spcAft>
            </a:pPr>
            <a:r>
              <a:rPr lang="pt-BR" sz="1100" b="1" i="0">
                <a:solidFill>
                  <a:srgbClr val="64748B"/>
                </a:solidFill>
                <a:latin typeface="Calibri"/>
              </a:rPr>
              <a:t>Excel de 9 Abas &amp; Drawer</a:t>
            </a:r>
          </a:p>
          <a:p>
            <a:pPr algn="l"/>
            <a:r>
              <a:rPr lang="pt-BR" sz="1100" b="0" i="0">
                <a:solidFill>
                  <a:srgbClr val="334155"/>
                </a:solidFill>
                <a:latin typeface="Calibri"/>
              </a:rPr>
              <a:t>• Drawer lateral na interface para inspeção lado a lado de qualquer linha.
• Rastreabilidade de arquivo, aba e linha original.
• Exportação instantânea em XLSX detalhado para auditoria.
• Sem necessidade de macros ou scripts locais.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FERRAMENTAS &amp; MODELOS</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Divisão Estratégica das Ferramentas de IA no DOJO</a:t>
            </a:r>
          </a:p>
          <a:p>
            <a:pPr algn="l"/>
            <a:r>
              <a:rPr lang="pt-BR" sz="1100" b="0" i="0">
                <a:solidFill>
                  <a:srgbClr val="64748B"/>
                </a:solidFill>
                <a:latin typeface="Calibri"/>
              </a:rPr>
              <a:t>Como ChatGPT/Codex, Antigravity/Gemini e Engenharia de PRDs foram orquestrados</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07</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Tool1"/>
          <p:cNvSpPr/>
          <p:nvPr/>
        </p:nvSpPr>
        <p:spPr>
          <a:xfrm>
            <a:off x="800000" y="1750000"/>
            <a:ext cx="3350000" cy="3400000"/>
          </a:xfrm>
          <a:prstGeom prst="roundRect">
            <a:avLst>
              <a:gd name="adj" fmla="val 10000"/>
            </a:avLst>
          </a:prstGeom>
          <a:solidFill>
            <a:srgbClr val="FFFFFF"/>
          </a:solidFill>
          <a:ln w="12700">
            <a:solidFill>
              <a:srgbClr val="CBD5E1"/>
            </a:solidFill>
          </a:ln>
        </p:spPr>
        <p:txBody>
          <a:bodyPr vert="horz" lIns="140000" tIns="120000" rIns="140000" bIns="120000" anchor="t"/>
          <a:lstStyle/>
          <a:p>
            <a:pPr algn="l">
              <a:spcAft>
                <a:spcPts val="400"/>
              </a:spcAft>
            </a:pPr>
            <a:r>
              <a:rPr lang="pt-BR" sz="1300" b="1" i="0">
                <a:solidFill>
                  <a:srgbClr val="10A37F"/>
                </a:solidFill>
                <a:latin typeface="Calibri"/>
              </a:rPr>
              <a:t>🤖 CHATGPT + CODEX</a:t>
            </a:r>
          </a:p>
          <a:p>
            <a:pPr algn="l">
              <a:spcAft>
                <a:spcPts val="1000"/>
              </a:spcAft>
            </a:pPr>
            <a:r>
              <a:rPr lang="pt-BR" sz="1100" b="1" i="0">
                <a:solidFill>
                  <a:srgbClr val="64748B"/>
                </a:solidFill>
                <a:latin typeface="Calibri"/>
              </a:rPr>
              <a:t>Modelo Sol (Desenvolvimento)</a:t>
            </a:r>
          </a:p>
          <a:p>
            <a:pPr algn="l"/>
            <a:r>
              <a:rPr lang="pt-BR" sz="1050" b="0" i="0">
                <a:solidFill>
                  <a:srgbClr val="334155"/>
                </a:solidFill>
                <a:latin typeface="Calibri"/>
              </a:rPr>
              <a:t>• Prototipação ágil de componentes de interface e modais.
• Refatoração de funções auxiliares e utilitários de data/moeda.
• Criação de scripts de teste e transformação.</a:t>
            </a:r>
          </a:p>
        </p:txBody>
      </p:sp>
      <p:sp>
        <p:nvSpPr>
          <p:cNvPr id="11" name="Tool2"/>
          <p:cNvSpPr/>
          <p:nvPr/>
        </p:nvSpPr>
        <p:spPr>
          <a:xfrm>
            <a:off x="4420000" y="1750000"/>
            <a:ext cx="3350000" cy="3400000"/>
          </a:xfrm>
          <a:prstGeom prst="roundRect">
            <a:avLst>
              <a:gd name="adj" fmla="val 10000"/>
            </a:avLst>
          </a:prstGeom>
          <a:solidFill>
            <a:srgbClr val="FFFFFF"/>
          </a:solidFill>
          <a:ln w="25400">
            <a:solidFill>
              <a:srgbClr val="3B82F6"/>
            </a:solidFill>
          </a:ln>
        </p:spPr>
        <p:txBody>
          <a:bodyPr vert="horz" lIns="140000" tIns="120000" rIns="140000" bIns="120000" anchor="t"/>
          <a:lstStyle/>
          <a:p>
            <a:pPr algn="l">
              <a:spcAft>
                <a:spcPts val="400"/>
              </a:spcAft>
            </a:pPr>
            <a:r>
              <a:rPr lang="pt-BR" sz="1300" b="1" i="0">
                <a:solidFill>
                  <a:srgbClr val="1D4ED8"/>
                </a:solidFill>
                <a:latin typeface="Calibri"/>
              </a:rPr>
              <a:t>🧠 ANTIGRAVITY</a:t>
            </a:r>
          </a:p>
          <a:p>
            <a:pPr algn="l">
              <a:spcAft>
                <a:spcPts val="1000"/>
              </a:spcAft>
            </a:pPr>
            <a:r>
              <a:rPr lang="pt-BR" sz="1100" b="1" i="0">
                <a:solidFill>
                  <a:srgbClr val="64748B"/>
                </a:solidFill>
                <a:latin typeface="Calibri"/>
              </a:rPr>
              <a:t>Gemini 3.7 Flash (Orquestração)</a:t>
            </a:r>
          </a:p>
          <a:p>
            <a:pPr algn="l"/>
            <a:r>
              <a:rPr lang="pt-BR" sz="1050" b="0" i="0">
                <a:solidFill>
                  <a:srgbClr val="334155"/>
                </a:solidFill>
                <a:latin typeface="Calibri"/>
              </a:rPr>
              <a:t>• Orquestração agêntica avançada e arquitetura modular.
• Implementação do motor core determinístico e regras RF-01 a 09.
• Construção dos parsers tabulares e testes contínuos (QA Gate).</a:t>
            </a:r>
          </a:p>
        </p:txBody>
      </p:sp>
      <p:sp>
        <p:nvSpPr>
          <p:cNvPr id="12" name="Tool3"/>
          <p:cNvSpPr/>
          <p:nvPr/>
        </p:nvSpPr>
        <p:spPr>
          <a:xfrm>
            <a:off x="8040000" y="1750000"/>
            <a:ext cx="3350000" cy="3400000"/>
          </a:xfrm>
          <a:prstGeom prst="roundRect">
            <a:avLst>
              <a:gd name="adj" fmla="val 10000"/>
            </a:avLst>
          </a:prstGeom>
          <a:solidFill>
            <a:srgbClr val="FFFFFF"/>
          </a:solidFill>
          <a:ln w="12700">
            <a:solidFill>
              <a:srgbClr val="CBD5E1"/>
            </a:solidFill>
          </a:ln>
        </p:spPr>
        <p:txBody>
          <a:bodyPr vert="horz" lIns="140000" tIns="120000" rIns="140000" bIns="120000" anchor="t"/>
          <a:lstStyle/>
          <a:p>
            <a:pPr algn="l">
              <a:spcAft>
                <a:spcPts val="400"/>
              </a:spcAft>
            </a:pPr>
            <a:r>
              <a:rPr lang="pt-BR" sz="1300" b="1" i="0">
                <a:solidFill>
                  <a:srgbClr val="8B5CF6"/>
                </a:solidFill>
                <a:latin typeface="Calibri"/>
              </a:rPr>
              <a:t>📋 CHATGPT (PRDs)</a:t>
            </a:r>
          </a:p>
          <a:p>
            <a:pPr algn="l">
              <a:spcAft>
                <a:spcPts val="1000"/>
              </a:spcAft>
            </a:pPr>
            <a:r>
              <a:rPr lang="pt-BR" sz="1100" b="1" i="0">
                <a:solidFill>
                  <a:srgbClr val="64748B"/>
                </a:solidFill>
                <a:latin typeface="Calibri"/>
              </a:rPr>
              <a:t>Engenharia de Requisitos</a:t>
            </a:r>
          </a:p>
          <a:p>
            <a:pPr algn="l"/>
            <a:r>
              <a:rPr lang="pt-BR" sz="1050" b="0" i="0">
                <a:solidFill>
                  <a:srgbClr val="334155"/>
                </a:solidFill>
                <a:latin typeface="Calibri"/>
              </a:rPr>
              <a:t>• Estruturação de documentos de requisitos de produto (PRDs).
• Especificação técnica de regras financeiras e fluxos.
• Matrizes de rastreabilidade contábil.</a:t>
            </a:r>
          </a:p>
        </p:txBody>
      </p:sp>
      <p:sp>
        <p:nvSpPr>
          <p:cNvPr id="13" name="EngBanner"/>
          <p:cNvSpPr/>
          <p:nvPr/>
        </p:nvSpPr>
        <p:spPr>
          <a:xfrm>
            <a:off x="800000" y="5350000"/>
            <a:ext cx="10592000" cy="850000"/>
          </a:xfrm>
          <a:prstGeom prst="roundRect">
            <a:avLst>
              <a:gd name="adj" fmla="val 8000"/>
            </a:avLst>
          </a:prstGeom>
          <a:solidFill>
            <a:srgbClr val="F1F5F9"/>
          </a:solidFill>
          <a:ln w="12700">
            <a:solidFill>
              <a:srgbClr val="CBD5E1"/>
            </a:solidFill>
          </a:ln>
        </p:spPr>
        <p:txBody>
          <a:bodyPr vert="horz" lIns="140000" tIns="120000" rIns="140000" bIns="120000" anchor="t"/>
          <a:lstStyle/>
          <a:p>
            <a:pPr algn="ctr"/>
            <a:r>
              <a:rPr lang="pt-BR" sz="1050" b="1" i="0">
                <a:solidFill>
                  <a:srgbClr val="334155"/>
                </a:solidFill>
                <a:latin typeface="Calibri"/>
              </a:rPr>
              <a:t>⚙️ METODOLOGIA DO DOJO: Plan Mode antes de cada implementação, isolamento de contextos via subagentes e validação contínua contra regressões.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ENGENHARIA DE SOFTWARE</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Arquitetura em Camadas &amp; Fluxo de Dados</a:t>
            </a:r>
          </a:p>
          <a:p>
            <a:pPr algn="l"/>
            <a:r>
              <a:rPr lang="pt-BR" sz="1100" b="0" i="0">
                <a:solidFill>
                  <a:srgbClr val="64748B"/>
                </a:solidFill>
                <a:latin typeface="Calibri"/>
              </a:rPr>
              <a:t>Processamento sequencial, modular e com rastreabilidade de ponta a ponta</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08</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Step1"/>
          <p:cNvSpPr/>
          <p:nvPr/>
        </p:nvSpPr>
        <p:spPr>
          <a:xfrm>
            <a:off x="800000" y="1750000"/>
            <a:ext cx="1950000" cy="4400000"/>
          </a:xfrm>
          <a:prstGeom prst="roundRect">
            <a:avLst>
              <a:gd name="adj" fmla="val 8000"/>
            </a:avLst>
          </a:prstGeom>
          <a:solidFill>
            <a:srgbClr val="FFFFFF"/>
          </a:solidFill>
          <a:ln w="12700">
            <a:solidFill>
              <a:srgbClr val="CBD5E1"/>
            </a:solidFill>
          </a:ln>
        </p:spPr>
        <p:txBody>
          <a:bodyPr vert="horz" lIns="140000" tIns="120000" rIns="140000" bIns="120000" anchor="t"/>
          <a:lstStyle/>
          <a:p>
            <a:pPr algn="l">
              <a:spcAft>
                <a:spcPts val="800"/>
              </a:spcAft>
            </a:pPr>
            <a:r>
              <a:rPr lang="pt-BR" sz="1100" b="1" i="0">
                <a:solidFill>
                  <a:srgbClr val="1E3A8A"/>
                </a:solidFill>
                <a:latin typeface="Calibri"/>
              </a:rPr>
              <a:t>1. INGESTÃO</a:t>
            </a:r>
          </a:p>
          <a:p>
            <a:pPr algn="l"/>
            <a:r>
              <a:rPr lang="pt-BR" sz="1000" b="0" i="0">
                <a:solidFill>
                  <a:srgbClr val="334155"/>
                </a:solidFill>
                <a:latin typeface="Calibri"/>
              </a:rPr>
              <a:t>• Upload de Razão (CSV/XLSX).
• Upload de Extratos (XLSX, CSV, OFX, PDF).
• Hash SHA-256 e validação de período.</a:t>
            </a:r>
          </a:p>
        </p:txBody>
      </p:sp>
      <p:sp>
        <p:nvSpPr>
          <p:cNvPr id="11" name="Step2"/>
          <p:cNvSpPr/>
          <p:nvPr/>
        </p:nvSpPr>
        <p:spPr>
          <a:xfrm>
            <a:off x="2950000" y="1750000"/>
            <a:ext cx="1950000" cy="4400000"/>
          </a:xfrm>
          <a:prstGeom prst="roundRect">
            <a:avLst>
              <a:gd name="adj" fmla="val 8000"/>
            </a:avLst>
          </a:prstGeom>
          <a:solidFill>
            <a:srgbClr val="FFFFFF"/>
          </a:solidFill>
          <a:ln w="12700">
            <a:solidFill>
              <a:srgbClr val="CBD5E1"/>
            </a:solidFill>
          </a:ln>
        </p:spPr>
        <p:txBody>
          <a:bodyPr vert="horz" lIns="140000" tIns="120000" rIns="140000" bIns="120000" anchor="t"/>
          <a:lstStyle/>
          <a:p>
            <a:pPr algn="l">
              <a:spcAft>
                <a:spcPts val="800"/>
              </a:spcAft>
            </a:pPr>
            <a:r>
              <a:rPr lang="pt-BR" sz="1100" b="1" i="0">
                <a:solidFill>
                  <a:srgbClr val="1D4ED8"/>
                </a:solidFill>
                <a:latin typeface="Calibri"/>
              </a:rPr>
              <a:t>2. PARSERS</a:t>
            </a:r>
          </a:p>
          <a:p>
            <a:pPr algn="l"/>
            <a:r>
              <a:rPr lang="pt-BR" sz="1000" b="0" i="0">
                <a:solidFill>
                  <a:srgbClr val="334155"/>
                </a:solidFill>
                <a:latin typeface="Calibri"/>
              </a:rPr>
              <a:t>• SheetJS universal.
• Classificação de abas.
• Dicionário de aliases.
• Normalização em centavos (BigInt).</a:t>
            </a:r>
          </a:p>
        </p:txBody>
      </p:sp>
      <p:sp>
        <p:nvSpPr>
          <p:cNvPr id="12" name="Step3"/>
          <p:cNvSpPr/>
          <p:nvPr/>
        </p:nvSpPr>
        <p:spPr>
          <a:xfrm>
            <a:off x="5100000" y="1750000"/>
            <a:ext cx="2000000" cy="4400000"/>
          </a:xfrm>
          <a:prstGeom prst="roundRect">
            <a:avLst>
              <a:gd name="adj" fmla="val 8000"/>
            </a:avLst>
          </a:prstGeom>
          <a:solidFill>
            <a:srgbClr val="FFFFFF"/>
          </a:solidFill>
          <a:ln w="25400">
            <a:solidFill>
              <a:srgbClr val="1D4ED8"/>
            </a:solidFill>
          </a:ln>
        </p:spPr>
        <p:txBody>
          <a:bodyPr vert="horz" lIns="140000" tIns="120000" rIns="140000" bIns="120000" anchor="t"/>
          <a:lstStyle/>
          <a:p>
            <a:pPr algn="l">
              <a:spcAft>
                <a:spcPts val="800"/>
              </a:spcAft>
            </a:pPr>
            <a:r>
              <a:rPr lang="pt-BR" sz="1100" b="1" i="0">
                <a:solidFill>
                  <a:srgbClr val="1D4ED8"/>
                </a:solidFill>
                <a:latin typeface="Calibri"/>
              </a:rPr>
              <a:t>3. MOTOR CORE</a:t>
            </a:r>
          </a:p>
          <a:p>
            <a:pPr algn="l"/>
            <a:r>
              <a:rPr lang="pt-BR" sz="1000" b="0" i="0">
                <a:solidFill>
                  <a:srgbClr val="334155"/>
                </a:solidFill>
                <a:latin typeface="Calibri"/>
              </a:rPr>
              <a:t>• Cascata RF-01 a 09.
• Match 1:1, tolerância e grupos.
• Scoring documental.
• Isolamento de divergências.</a:t>
            </a:r>
          </a:p>
        </p:txBody>
      </p:sp>
      <p:sp>
        <p:nvSpPr>
          <p:cNvPr id="13" name="Step4"/>
          <p:cNvSpPr/>
          <p:nvPr/>
        </p:nvSpPr>
        <p:spPr>
          <a:xfrm>
            <a:off x="7300000" y="1750000"/>
            <a:ext cx="1950000" cy="4400000"/>
          </a:xfrm>
          <a:prstGeom prst="roundRect">
            <a:avLst>
              <a:gd name="adj" fmla="val 8000"/>
            </a:avLst>
          </a:prstGeom>
          <a:solidFill>
            <a:srgbClr val="FFFFFF"/>
          </a:solidFill>
          <a:ln w="12700">
            <a:solidFill>
              <a:srgbClr val="CBD5E1"/>
            </a:solidFill>
          </a:ln>
        </p:spPr>
        <p:txBody>
          <a:bodyPr vert="horz" lIns="140000" tIns="120000" rIns="140000" bIns="120000" anchor="t"/>
          <a:lstStyle/>
          <a:p>
            <a:pPr algn="l">
              <a:spcAft>
                <a:spcPts val="800"/>
              </a:spcAft>
            </a:pPr>
            <a:r>
              <a:rPr lang="pt-BR" sz="1100" b="1" i="0">
                <a:solidFill>
                  <a:srgbClr val="0D9488"/>
                </a:solidFill>
                <a:latin typeface="Calibri"/>
              </a:rPr>
              <a:t>4. INTERFACE</a:t>
            </a:r>
          </a:p>
          <a:p>
            <a:pPr algn="l"/>
            <a:r>
              <a:rPr lang="pt-BR" sz="1000" b="0" i="0">
                <a:solidFill>
                  <a:srgbClr val="334155"/>
                </a:solidFill>
                <a:latin typeface="Calibri"/>
              </a:rPr>
              <a:t>• Dashboard com KPIs.
• Abas filtráveis.
• Drawer com evidência lado a lado.
• Rastreabilidade total.</a:t>
            </a:r>
          </a:p>
        </p:txBody>
      </p:sp>
      <p:sp>
        <p:nvSpPr>
          <p:cNvPr id="14" name="Step5"/>
          <p:cNvSpPr/>
          <p:nvPr/>
        </p:nvSpPr>
        <p:spPr>
          <a:xfrm>
            <a:off x="9450000" y="1750000"/>
            <a:ext cx="1942000" cy="4400000"/>
          </a:xfrm>
          <a:prstGeom prst="roundRect">
            <a:avLst>
              <a:gd name="adj" fmla="val 8000"/>
            </a:avLst>
          </a:prstGeom>
          <a:solidFill>
            <a:srgbClr val="FFFFFF"/>
          </a:solidFill>
          <a:ln w="12700">
            <a:solidFill>
              <a:srgbClr val="CBD5E1"/>
            </a:solidFill>
          </a:ln>
        </p:spPr>
        <p:txBody>
          <a:bodyPr vert="horz" lIns="140000" tIns="120000" rIns="140000" bIns="120000" anchor="t"/>
          <a:lstStyle/>
          <a:p>
            <a:pPr algn="l">
              <a:spcAft>
                <a:spcPts val="800"/>
              </a:spcAft>
            </a:pPr>
            <a:r>
              <a:rPr lang="pt-BR" sz="1100" b="1" i="0">
                <a:solidFill>
                  <a:srgbClr val="059669"/>
                </a:solidFill>
                <a:latin typeface="Calibri"/>
              </a:rPr>
              <a:t>5. EXPORTAÇÃO</a:t>
            </a:r>
          </a:p>
          <a:p>
            <a:pPr algn="l"/>
            <a:r>
              <a:rPr lang="pt-BR" sz="1000" b="0" i="0">
                <a:solidFill>
                  <a:srgbClr val="334155"/>
                </a:solidFill>
                <a:latin typeface="Calibri"/>
              </a:rPr>
              <a:t>• Planilha Excel 9 abas.
• Relatório analítico.
• Pronto para auditoria.
• Sem macros.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PRODUTO EM FUNCIONAMENTO</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Painel de Resultados, Indicadores &amp; Tabela de Matches</a:t>
            </a:r>
          </a:p>
          <a:p>
            <a:pPr algn="l"/>
            <a:r>
              <a:rPr lang="pt-BR" sz="1100" b="0" i="0">
                <a:solidFill>
                  <a:srgbClr val="64748B"/>
                </a:solidFill>
                <a:latin typeface="Calibri"/>
              </a:rPr>
              <a:t>Visão consolidada do fechamento, métricas de cobertura e navegação por regras</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09</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pic>
        <p:nvPicPr>
          <p:cNvPr id="10" name="ScreenResults"/>
          <p:cNvPicPr>
            <a:picLocks noChangeAspect="1"/>
          </p:cNvPicPr>
          <p:nvPr/>
        </p:nvPicPr>
        <p:blipFill>
          <a:blip r:embed="rIdImg1"/>
          <a:stretch>
            <a:fillRect/>
          </a:stretch>
        </p:blipFill>
        <p:spPr>
          <a:xfrm>
            <a:off x="800000" y="1700000"/>
            <a:ext cx="10592000" cy="3700000"/>
          </a:xfrm>
          <a:prstGeom prst="roundRect">
            <a:avLst>
              <a:gd name="adj" fmla="val 8000"/>
            </a:avLst>
          </a:prstGeom>
          <a:ln w="12700">
            <a:solidFill>
              <a:srgbClr val="CBD5E1"/>
            </a:solidFill>
          </a:ln>
        </p:spPr>
      </p:pic>
      <p:sp>
        <p:nvSpPr>
          <p:cNvPr id="11" name="CaptionResults"/>
          <p:cNvSpPr/>
          <p:nvPr/>
        </p:nvSpPr>
        <p:spPr>
          <a:xfrm>
            <a:off x="800000" y="5550000"/>
            <a:ext cx="10592000" cy="750000"/>
          </a:xfrm>
          <a:prstGeom prst="roundRect">
            <a:avLst>
              <a:gd name="adj" fmla="val 8000"/>
            </a:avLst>
          </a:prstGeom>
          <a:solidFill>
            <a:srgbClr val="FFFFFF"/>
          </a:solidFill>
          <a:ln w="12700">
            <a:solidFill>
              <a:srgbClr val="E2E8F0"/>
            </a:solidFill>
          </a:ln>
        </p:spPr>
        <p:txBody>
          <a:bodyPr vert="horz" lIns="140000" tIns="120000" rIns="140000" bIns="120000" anchor="t"/>
          <a:lstStyle/>
          <a:p>
            <a:pPr algn="l"/>
            <a:r>
              <a:rPr lang="pt-BR" sz="1050" b="1" i="0">
                <a:solidFill>
                  <a:srgbClr val="1E3A8A"/>
                </a:solidFill>
                <a:latin typeface="Calibri"/>
              </a:rPr>
              <a:t>📸 TELA REAL DA APLICAÇÃO CONCILIA: </a:t>
            </a:r>
          </a:p>
          <a:p>
            <a:pPr algn="l"/>
            <a:r>
              <a:rPr lang="pt-BR" sz="1000" b="0" i="0">
                <a:solidFill>
                  <a:srgbClr val="475569"/>
                </a:solidFill>
                <a:latin typeface="Calibri"/>
              </a:rPr>
              <a:t>Painel de resultado exibindo KPIs de cobertura (Razão Conciliável vs Extrato Conciliável), diferença apurada e abas filtráveis por regra de matching (Exatos, Proximidade, Grupos, Total Diário, Compensados e Divergências).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MOTOR DE REGRAS</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Regras de Negócio de Conciliação — RF-01 a RF-05</a:t>
            </a:r>
          </a:p>
          <a:p>
            <a:pPr algn="l"/>
            <a:r>
              <a:rPr lang="pt-BR" sz="1100" b="0" i="0">
                <a:solidFill>
                  <a:srgbClr val="64748B"/>
                </a:solidFill>
                <a:latin typeface="Calibri"/>
              </a:rPr>
              <a:t>Primeiras passagens do motor: limpeza de trânsito, match exato, tolerâncias e agrupamentos</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10</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graphicFrame>
        <p:nvGraphicFramePr>
          <p:cNvPr id="10" name="TableRF1to5"/>
          <p:cNvGraphicFramePr>
            <a:graphicFrameLocks noGrp="1"/>
          </p:cNvGraphicFramePr>
          <p:nvPr/>
        </p:nvGraphicFramePr>
        <p:xfrm>
          <a:off x="800000" y="1750000"/>
          <a:ext cx="10592000" cy="4400000"/>
        </p:xfrm>
        <a:graphic>
          <a:graphicData uri="http://schemas.openxmlformats.org/drawingml/2006/table">
            <a:tbl>
              <a:tblPr rtl="0" firstRow="1">
                <a:tableStyleId>{5C22544A-7EE6-4342-B048-85BDC9FD1C3A}</a:tableStyleId>
              </a:tblPr>
              <a:tblGrid>
                <a:gridCol w="900000"/>
                <a:gridCol w="2300000"/>
                <a:gridCol w="3100000"/>
                <a:gridCol w="3100000"/>
                <a:gridCol w="1192000"/>
              </a:tblGrid>
              <a:tr h="400000">
                <a:tc>
                  <a:txBody>
                    <a:bodyPr vert="horz" lIns="80000" tIns="60000" rIns="80000" bIns="60000" anchor="ctr"/>
                    <a:lstStyle/>
                    <a:p>
                      <a:pPr algn="ctr"/>
                      <a:r>
                        <a:rPr lang="pt-BR" sz="1050" b="1">
                          <a:solidFill>
                            <a:srgbClr val="FFFFFF"/>
                          </a:solidFill>
                          <a:latin typeface="Calibri"/>
                        </a:rPr>
                        <a:t>Regra</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Nome da Regra</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Motivo da Implementação</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Comportamento Técnico do Motor</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Decisão</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r>
              <a:tr h="360000">
                <a:tc>
                  <a:txBody>
                    <a:bodyPr vert="horz" lIns="80000" tIns="50000" rIns="80000" bIns="50000" anchor="ctr"/>
                    <a:lstStyle/>
                    <a:p>
                      <a:pPr algn="ctr"/>
                      <a:r>
                        <a:rPr lang="pt-BR" sz="950" b="1">
                          <a:solidFill>
                            <a:srgbClr val="1E3A8A"/>
                          </a:solidFill>
                          <a:latin typeface="Calibri"/>
                        </a:rPr>
                        <a:t>RF-01</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Exclusão de Aplicação Aut.</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Varreduras automáticas (CDB/Contamax) poluem o extrato sem razão manual correspondente.</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Detecta via regex ('APL APLIC AUT', 'CONTAMAX') e isola em EXCLUDED_AUTO_APPLICATION.</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Automática</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60000">
                <a:tc>
                  <a:txBody>
                    <a:bodyPr vert="horz" lIns="80000" tIns="50000" rIns="80000" bIns="50000" anchor="ctr"/>
                    <a:lstStyle/>
                    <a:p>
                      <a:pPr algn="ctr"/>
                      <a:r>
                        <a:rPr lang="pt-BR" sz="950" b="1">
                          <a:solidFill>
                            <a:srgbClr val="1E3A8A"/>
                          </a:solidFill>
                          <a:latin typeface="Calibri"/>
                        </a:rPr>
                        <a:t>RF-02</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Conciliação Exata (1:1)</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Padrão ouro contábil: liberar o tempo do analista automatizando o que é óbvio.</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Compara 1 extrato com 1 razão exigindo mesma data, valor em centavos e sinal compatível.</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Automática</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r>
              <a:tr h="360000">
                <a:tc>
                  <a:txBody>
                    <a:bodyPr vert="horz" lIns="80000" tIns="50000" rIns="80000" bIns="50000" anchor="ctr"/>
                    <a:lstStyle/>
                    <a:p>
                      <a:pPr algn="ctr"/>
                      <a:r>
                        <a:rPr lang="pt-BR" sz="950" b="1">
                          <a:solidFill>
                            <a:srgbClr val="1E3A8A"/>
                          </a:solidFill>
                          <a:latin typeface="Calibri"/>
                        </a:rPr>
                        <a:t>RF-03</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Proximidade de Data</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Compensações bancárias (boletos/TEDs) caem no banco até 3 dias após emissão.</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Match 1:1 com mesmo valor e até 3 dias de tolerância, exigindo score semântico &gt;= 0.34.</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Automática</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60000">
                <a:tc>
                  <a:txBody>
                    <a:bodyPr vert="horz" lIns="80000" tIns="50000" rIns="80000" bIns="50000" anchor="ctr"/>
                    <a:lstStyle/>
                    <a:p>
                      <a:pPr algn="ctr"/>
                      <a:r>
                        <a:rPr lang="pt-BR" sz="950" b="1">
                          <a:solidFill>
                            <a:srgbClr val="1E3A8A"/>
                          </a:solidFill>
                          <a:latin typeface="Calibri"/>
                        </a:rPr>
                        <a:t>RF-04</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Agrupamento 1 para N</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Banco debita lote consolidado (SISPAG/folha) e Protheus tem títulos individuais.</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Encontra combinações no razão na mesma data cuja soma fecha com 1 extrato com score.</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Automática</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r>
              <a:tr h="360000">
                <a:tc>
                  <a:txBody>
                    <a:bodyPr vert="horz" lIns="80000" tIns="50000" rIns="80000" bIns="50000" anchor="ctr"/>
                    <a:lstStyle/>
                    <a:p>
                      <a:pPr algn="ctr"/>
                      <a:r>
                        <a:rPr lang="pt-BR" sz="950" b="1">
                          <a:solidFill>
                            <a:srgbClr val="1E3A8A"/>
                          </a:solidFill>
                          <a:latin typeface="Calibri"/>
                        </a:rPr>
                        <a:t>RF-05</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Agrupamento N para 1</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Depósitos fracionados ou repasses somam 1 único lançamento no razão contábil.</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Encontra combinações no extrato na mesma data cuja soma fecha com 1 lançamento contábil.</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Automática</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MOTOR DE REGRAS</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Regras de Negócio de Conciliação — RF-06 a RF-09</a:t>
            </a:r>
          </a:p>
          <a:p>
            <a:pPr algn="l"/>
            <a:r>
              <a:rPr lang="pt-BR" sz="1100" b="0" i="0">
                <a:solidFill>
                  <a:srgbClr val="64748B"/>
                </a:solidFill>
                <a:latin typeface="Calibri"/>
              </a:rPr>
              <a:t>Blindagem contra somas coincidentes, total diário, compensações internas e divergências</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11</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graphicFrame>
        <p:nvGraphicFramePr>
          <p:cNvPr id="10" name="TableRF6to9"/>
          <p:cNvGraphicFramePr>
            <a:graphicFrameLocks noGrp="1"/>
          </p:cNvGraphicFramePr>
          <p:nvPr/>
        </p:nvGraphicFramePr>
        <p:xfrm>
          <a:off x="800000" y="1750000"/>
          <a:ext cx="10592000" cy="3400000"/>
        </p:xfrm>
        <a:graphic>
          <a:graphicData uri="http://schemas.openxmlformats.org/drawingml/2006/table">
            <a:tbl>
              <a:tblPr rtl="0" firstRow="1">
                <a:tableStyleId>{5C22544A-7EE6-4342-B048-85BDC9FD1C3A}</a:tableStyleId>
              </a:tblPr>
              <a:tblGrid>
                <a:gridCol w="900000"/>
                <a:gridCol w="2300000"/>
                <a:gridCol w="3100000"/>
                <a:gridCol w="3100000"/>
                <a:gridCol w="1192000"/>
              </a:tblGrid>
              <a:tr h="420000">
                <a:tc>
                  <a:txBody>
                    <a:bodyPr vert="horz" lIns="80000" tIns="60000" rIns="80000" bIns="60000" anchor="ctr"/>
                    <a:lstStyle/>
                    <a:p>
                      <a:pPr algn="ctr"/>
                      <a:r>
                        <a:rPr lang="pt-BR" sz="1050" b="1">
                          <a:solidFill>
                            <a:srgbClr val="FFFFFF"/>
                          </a:solidFill>
                          <a:latin typeface="Calibri"/>
                        </a:rPr>
                        <a:t>Regra</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Nome da Regra</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Motivo da Implementação</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Comportamento Técnico do Motor</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Decisão</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r>
              <a:tr h="380000">
                <a:tc>
                  <a:txBody>
                    <a:bodyPr vert="horz" lIns="80000" tIns="50000" rIns="80000" bIns="50000" anchor="ctr"/>
                    <a:lstStyle/>
                    <a:p>
                      <a:pPr algn="ctr"/>
                      <a:r>
                        <a:rPr lang="pt-BR" sz="950" b="1">
                          <a:solidFill>
                            <a:srgbClr val="1E3A8A"/>
                          </a:solidFill>
                          <a:latin typeface="Calibri"/>
                        </a:rPr>
                        <a:t>RF-06</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Scoring Documental &amp; Tokens</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Evitar a 'ilusão da soma': números aleatórios que fecham por mero acaso matemático.</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Concede bônus pesado quando números de documentos/NFs coincidem entre as linhas agrupadas.</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Critério</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80000">
                <a:tc>
                  <a:txBody>
                    <a:bodyPr vert="horz" lIns="80000" tIns="50000" rIns="80000" bIns="50000" anchor="ctr"/>
                    <a:lstStyle/>
                    <a:p>
                      <a:pPr algn="ctr"/>
                      <a:r>
                        <a:rPr lang="pt-BR" sz="950" b="1">
                          <a:solidFill>
                            <a:srgbClr val="1E3A8A"/>
                          </a:solidFill>
                          <a:latin typeface="Calibri"/>
                        </a:rPr>
                        <a:t>RF-07</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Totalização Diária</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Movimentações residuais do dia cujo saldo consolidado bate em centavos.</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Se a soma residual bancária do dia for igual à contábil (sem docs conflitantes), concilia o bloco.</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Automática</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r>
              <a:tr h="380000">
                <a:tc>
                  <a:txBody>
                    <a:bodyPr vert="horz" lIns="80000" tIns="50000" rIns="80000" bIns="50000" anchor="ctr"/>
                    <a:lstStyle/>
                    <a:p>
                      <a:pPr algn="ctr"/>
                      <a:r>
                        <a:rPr lang="pt-BR" sz="950" b="1">
                          <a:solidFill>
                            <a:srgbClr val="1E3A8A"/>
                          </a:solidFill>
                          <a:latin typeface="Calibri"/>
                        </a:rPr>
                        <a:t>RF-08</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Compensação Net-Zero</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Tarifas cobradas indevidamente e estornadas no mesmo dia pelo banco.</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Identifica lançamentos no extrato que se anulam (soma=0) sem razão aberto correspondente.</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Automática</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80000">
                <a:tc>
                  <a:txBody>
                    <a:bodyPr vert="horz" lIns="80000" tIns="50000" rIns="80000" bIns="50000" anchor="ctr"/>
                    <a:lstStyle/>
                    <a:p>
                      <a:pPr algn="ctr"/>
                      <a:r>
                        <a:rPr lang="pt-BR" sz="950" b="1">
                          <a:solidFill>
                            <a:srgbClr val="1E3A8A"/>
                          </a:solidFill>
                          <a:latin typeface="Calibri"/>
                        </a:rPr>
                        <a:t>RF-09</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Isolamento de Divergências</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Auditoria exige evidência clara de tudo o que não foi conciliado.</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Classifica em BANK_ONLY e LEDGER_ONLY com arquivo e linha original para ação do analista.</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Revisão</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r>
            </a:tbl>
          </a:graphicData>
        </a:graphic>
      </p:graphicFrame>
      <p:sp>
        <p:nvSpPr>
          <p:cNvPr id="11" name="FailClosedBox"/>
          <p:cNvSpPr/>
          <p:nvPr/>
        </p:nvSpPr>
        <p:spPr>
          <a:xfrm>
            <a:off x="800000" y="5300000"/>
            <a:ext cx="10592000" cy="950000"/>
          </a:xfrm>
          <a:prstGeom prst="roundRect">
            <a:avLst>
              <a:gd name="adj" fmla="val 8000"/>
            </a:avLst>
          </a:prstGeom>
          <a:solidFill>
            <a:srgbClr val="FEF3C7"/>
          </a:solidFill>
          <a:ln w="12700">
            <a:solidFill>
              <a:srgbClr val="F59E0B"/>
            </a:solidFill>
          </a:ln>
        </p:spPr>
        <p:txBody>
          <a:bodyPr vert="horz" lIns="140000" tIns="120000" rIns="140000" bIns="120000" anchor="t"/>
          <a:lstStyle/>
          <a:p>
            <a:pPr algn="l">
              <a:spcAft>
                <a:spcPts val="200"/>
              </a:spcAft>
            </a:pPr>
            <a:r>
              <a:rPr lang="pt-BR" sz="1100" b="1" i="0">
                <a:solidFill>
                  <a:srgbClr val="92400E"/>
                </a:solidFill>
                <a:latin typeface="Calibri"/>
              </a:rPr>
              <a:t>🛡️ PRINCÍPIO FAIL-CLOSED DO MOTOR:</a:t>
            </a:r>
          </a:p>
          <a:p>
            <a:pPr algn="l"/>
            <a:r>
              <a:rPr lang="pt-BR" sz="1050" b="0" i="0">
                <a:solidFill>
                  <a:srgbClr val="78350F"/>
                </a:solidFill>
                <a:latin typeface="Calibri"/>
              </a:rPr>
              <a:t>O motor nunca adivinha ou 'força' uma conciliação duvidosa. Valores isolados sem compatibilidade de data ou documento viram sugestão ou divergência no RF-09, garantindo segurança contábil absoluta.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ENGENHARIA DE PARSERS</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Conversão de Extratos Heterogêneos em Modelo Canônico</a:t>
            </a:r>
          </a:p>
          <a:p>
            <a:pPr algn="l"/>
            <a:r>
              <a:rPr lang="pt-BR" sz="1100" b="0" i="0">
                <a:solidFill>
                  <a:srgbClr val="64748B"/>
                </a:solidFill>
                <a:latin typeface="Calibri"/>
              </a:rPr>
              <a:t>Como diferentes layouts bancários são interpretados sem criar código específico por conta</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12</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Pipe1"/>
          <p:cNvSpPr/>
          <p:nvPr/>
        </p:nvSpPr>
        <p:spPr>
          <a:xfrm>
            <a:off x="800000" y="1750000"/>
            <a:ext cx="2450000" cy="4400000"/>
          </a:xfrm>
          <a:prstGeom prst="roundRect">
            <a:avLst>
              <a:gd name="adj" fmla="val 8000"/>
            </a:avLst>
          </a:prstGeom>
          <a:solidFill>
            <a:srgbClr val="FFFFFF"/>
          </a:solidFill>
          <a:ln w="12700">
            <a:solidFill>
              <a:srgbClr val="CBD5E1"/>
            </a:solidFill>
          </a:ln>
        </p:spPr>
        <p:txBody>
          <a:bodyPr vert="horz" lIns="140000" tIns="120000" rIns="140000" bIns="120000" anchor="t"/>
          <a:lstStyle/>
          <a:p>
            <a:pPr algn="l">
              <a:spcAft>
                <a:spcPts val="800"/>
              </a:spcAft>
            </a:pPr>
            <a:r>
              <a:rPr lang="pt-BR" sz="1100" b="1" i="0">
                <a:solidFill>
                  <a:srgbClr val="1E3A8A"/>
                </a:solidFill>
                <a:latin typeface="Calibri"/>
              </a:rPr>
              <a:t>1. HETEROGENEIDADE</a:t>
            </a:r>
          </a:p>
          <a:p>
            <a:pPr algn="l"/>
            <a:r>
              <a:rPr lang="pt-BR" sz="1000" b="0" i="0">
                <a:solidFill>
                  <a:srgbClr val="334155"/>
                </a:solidFill>
                <a:latin typeface="Calibri"/>
              </a:rPr>
              <a:t>• 22 bancos distintos com colunas variadas:
  - Data / Dt. Movimento
  - Histórico / Descrição
  - Valor / Débito / Crédito
  - Natureza / Saldo
• Arquivos com múltiplas abas, capas e instruções.</a:t>
            </a:r>
          </a:p>
        </p:txBody>
      </p:sp>
      <p:sp>
        <p:nvSpPr>
          <p:cNvPr id="11" name="Pipe2"/>
          <p:cNvSpPr/>
          <p:nvPr/>
        </p:nvSpPr>
        <p:spPr>
          <a:xfrm>
            <a:off x="3514000" y="1750000"/>
            <a:ext cx="2450000" cy="4400000"/>
          </a:xfrm>
          <a:prstGeom prst="roundRect">
            <a:avLst>
              <a:gd name="adj" fmla="val 8000"/>
            </a:avLst>
          </a:prstGeom>
          <a:solidFill>
            <a:srgbClr val="FFFFFF"/>
          </a:solidFill>
          <a:ln w="12700">
            <a:solidFill>
              <a:srgbClr val="CBD5E1"/>
            </a:solidFill>
          </a:ln>
        </p:spPr>
        <p:txBody>
          <a:bodyPr vert="horz" lIns="140000" tIns="120000" rIns="140000" bIns="120000" anchor="t"/>
          <a:lstStyle/>
          <a:p>
            <a:pPr algn="l">
              <a:spcAft>
                <a:spcPts val="800"/>
              </a:spcAft>
            </a:pPr>
            <a:r>
              <a:rPr lang="pt-BR" sz="1100" b="1" i="0">
                <a:solidFill>
                  <a:srgbClr val="1D4ED8"/>
                </a:solidFill>
                <a:latin typeface="Calibri"/>
              </a:rPr>
              <a:t>2. CLASSIFICAÇÃO</a:t>
            </a:r>
          </a:p>
          <a:p>
            <a:pPr algn="l"/>
            <a:r>
              <a:rPr lang="pt-BR" sz="1000" b="0" i="0">
                <a:solidFill>
                  <a:srgbClr val="334155"/>
                </a:solidFill>
                <a:latin typeface="Calibri"/>
              </a:rPr>
              <a:t>• SheetJS para leitura nativa de .xlsx, .xls e .xlsm sem macros.
• Varredura de abas para identificar onde estão as movimentações reais.
• Descarte automático de abas de resumo, capa e instruções vazias.</a:t>
            </a:r>
          </a:p>
        </p:txBody>
      </p:sp>
      <p:sp>
        <p:nvSpPr>
          <p:cNvPr id="12" name="Pipe3"/>
          <p:cNvSpPr/>
          <p:nvPr/>
        </p:nvSpPr>
        <p:spPr>
          <a:xfrm>
            <a:off x="6228000" y="1750000"/>
            <a:ext cx="2450000" cy="4400000"/>
          </a:xfrm>
          <a:prstGeom prst="roundRect">
            <a:avLst>
              <a:gd name="adj" fmla="val 8000"/>
            </a:avLst>
          </a:prstGeom>
          <a:solidFill>
            <a:srgbClr val="FFFFFF"/>
          </a:solidFill>
          <a:ln w="12700">
            <a:solidFill>
              <a:srgbClr val="CBD5E1"/>
            </a:solidFill>
          </a:ln>
        </p:spPr>
        <p:txBody>
          <a:bodyPr vert="horz" lIns="140000" tIns="120000" rIns="140000" bIns="120000" anchor="t"/>
          <a:lstStyle/>
          <a:p>
            <a:pPr algn="l">
              <a:spcAft>
                <a:spcPts val="800"/>
              </a:spcAft>
            </a:pPr>
            <a:r>
              <a:rPr lang="pt-BR" sz="1100" b="1" i="0">
                <a:solidFill>
                  <a:srgbClr val="0D9488"/>
                </a:solidFill>
                <a:latin typeface="Calibri"/>
              </a:rPr>
              <a:t>3. ALIASES &amp; MAPEAMENTO</a:t>
            </a:r>
          </a:p>
          <a:p>
            <a:pPr algn="l"/>
            <a:r>
              <a:rPr lang="pt-BR" sz="1000" b="0" i="0">
                <a:solidFill>
                  <a:srgbClr val="334155"/>
                </a:solidFill>
                <a:latin typeface="Calibri"/>
              </a:rPr>
              <a:t>• Dicionário de sinônimos para detecção dinâmica de colunas.
• Separação rigorosa entre coluna de Saldo e coluna de Lançamento.
• Descarte de cabeçalhos repetidos e totalizadores intermediários.</a:t>
            </a:r>
          </a:p>
        </p:txBody>
      </p:sp>
      <p:sp>
        <p:nvSpPr>
          <p:cNvPr id="13" name="Pipe4"/>
          <p:cNvSpPr/>
          <p:nvPr/>
        </p:nvSpPr>
        <p:spPr>
          <a:xfrm>
            <a:off x="8942000" y="1750000"/>
            <a:ext cx="2450000" cy="4400000"/>
          </a:xfrm>
          <a:prstGeom prst="roundRect">
            <a:avLst>
              <a:gd name="adj" fmla="val 8000"/>
            </a:avLst>
          </a:prstGeom>
          <a:solidFill>
            <a:srgbClr val="FFFFFF"/>
          </a:solidFill>
          <a:ln w="25400">
            <a:solidFill>
              <a:srgbClr val="059669"/>
            </a:solidFill>
          </a:ln>
        </p:spPr>
        <p:txBody>
          <a:bodyPr vert="horz" lIns="140000" tIns="120000" rIns="140000" bIns="120000" anchor="t"/>
          <a:lstStyle/>
          <a:p>
            <a:pPr algn="l">
              <a:spcAft>
                <a:spcPts val="800"/>
              </a:spcAft>
            </a:pPr>
            <a:r>
              <a:rPr lang="pt-BR" sz="1100" b="1" i="0">
                <a:solidFill>
                  <a:srgbClr val="059669"/>
                </a:solidFill>
                <a:latin typeface="Calibri"/>
              </a:rPr>
              <a:t>4. NORMALIZAÇÃO</a:t>
            </a:r>
          </a:p>
          <a:p>
            <a:pPr algn="l"/>
            <a:r>
              <a:rPr lang="pt-BR" sz="1000" b="0" i="0">
                <a:solidFill>
                  <a:srgbClr val="334155"/>
                </a:solidFill>
                <a:latin typeface="Calibri"/>
              </a:rPr>
              <a:t>• Datas padronizadas em ISO (YYYY-MM-DD).
• Valores monetários convertidos em centavos inteiros (BigInt).
• Sinal financeiro padronizado.
• Preservação de arquivo, aba e linha original.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INTEGRAÇÃO PROTHEUS</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Tratamento do Razão Analítico e Parametrização de Contas</a:t>
            </a:r>
          </a:p>
          <a:p>
            <a:pPr algn="l"/>
            <a:r>
              <a:rPr lang="pt-BR" sz="1100" b="0" i="0">
                <a:solidFill>
                  <a:srgbClr val="64748B"/>
                </a:solidFill>
                <a:latin typeface="Calibri"/>
              </a:rPr>
              <a:t>Limpeza de relatórios contábeis complexos e amarração cadastral por empresa</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13</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ProtheusRules"/>
          <p:cNvSpPr/>
          <p:nvPr/>
        </p:nvSpPr>
        <p:spPr>
          <a:xfrm>
            <a:off x="800000" y="1750000"/>
            <a:ext cx="5150000" cy="4400000"/>
          </a:xfrm>
          <a:prstGeom prst="roundRect">
            <a:avLst>
              <a:gd name="adj" fmla="val 8000"/>
            </a:avLst>
          </a:prstGeom>
          <a:solidFill>
            <a:srgbClr val="FFFFFF"/>
          </a:solidFill>
          <a:ln w="12700">
            <a:solidFill>
              <a:srgbClr val="CBD5E1"/>
            </a:solidFill>
          </a:ln>
        </p:spPr>
        <p:txBody>
          <a:bodyPr vert="horz" lIns="140000" tIns="120000" rIns="140000" bIns="120000" anchor="t"/>
          <a:lstStyle/>
          <a:p>
            <a:pPr algn="l">
              <a:spcAft>
                <a:spcPts val="1000"/>
              </a:spcAft>
            </a:pPr>
            <a:r>
              <a:rPr lang="pt-BR" sz="1200" b="1" i="0">
                <a:solidFill>
                  <a:srgbClr val="1E3A8A"/>
                </a:solidFill>
                <a:latin typeface="Calibri"/>
              </a:rPr>
              <a:t>⚙️ TRATAMENTO DO RAZÃO ANALÍTICO PROTHEUS</a:t>
            </a:r>
          </a:p>
          <a:p>
            <a:pPr algn="l">
              <a:spcAft>
                <a:spcPts val="800"/>
              </a:spcAft>
            </a:pPr>
            <a:r>
              <a:rPr lang="pt-BR" sz="1050" b="0" i="0">
                <a:solidFill>
                  <a:srgbClr val="334155"/>
                </a:solidFill>
                <a:latin typeface="Calibri"/>
              </a:rPr>
              <a:t>• Limpeza de Parâmetros: O Protheus insere blocos de parâmetros nas primeiras linhas da planilha que são ignorados pelo leitor.</a:t>
            </a:r>
          </a:p>
          <a:p>
            <a:pPr algn="l">
              <a:spcAft>
                <a:spcPts val="800"/>
              </a:spcAft>
            </a:pPr>
            <a:r>
              <a:rPr lang="pt-BR" sz="1050" b="0" i="0">
                <a:solidFill>
                  <a:srgbClr val="334155"/>
                </a:solidFill>
                <a:latin typeface="Calibri"/>
              </a:rPr>
              <a:t>• Relatórios Paginados: Remove cabeçalhos que se repetem a cada quebra de página e ignora linhas de totalizadores parciais.</a:t>
            </a:r>
          </a:p>
          <a:p>
            <a:pPr algn="l">
              <a:spcAft>
                <a:spcPts val="800"/>
              </a:spcAft>
            </a:pPr>
            <a:r>
              <a:rPr lang="pt-BR" sz="1050" b="0" i="0">
                <a:solidFill>
                  <a:srgbClr val="334155"/>
                </a:solidFill>
                <a:latin typeface="Calibri"/>
              </a:rPr>
              <a:t>• Extração de Metadados: Captura o código da conta contábil mesmo quando informado em linhas avulsas ('CONTA - 1.1.1.01.001...').</a:t>
            </a:r>
          </a:p>
          <a:p>
            <a:pPr algn="l"/>
            <a:r>
              <a:rPr lang="pt-BR" sz="1050" b="0" i="0">
                <a:solidFill>
                  <a:srgbClr val="334155"/>
                </a:solidFill>
                <a:latin typeface="Calibri"/>
              </a:rPr>
              <a:t>• Convenção de Sinal: Converte débito contábil para saída financeira (negativo) e crédito para entrada (positivo).</a:t>
            </a:r>
          </a:p>
        </p:txBody>
      </p:sp>
      <p:pic>
        <p:nvPicPr>
          <p:cNvPr id="11" name="ScreenAccounts"/>
          <p:cNvPicPr>
            <a:picLocks noChangeAspect="1"/>
          </p:cNvPicPr>
          <p:nvPr/>
        </p:nvPicPr>
        <p:blipFill>
          <a:blip r:embed="rIdImg3"/>
          <a:stretch>
            <a:fillRect/>
          </a:stretch>
        </p:blipFill>
        <p:spPr>
          <a:xfrm>
            <a:off x="6242000" y="1750000"/>
            <a:ext cx="5150000" cy="3300000"/>
          </a:xfrm>
          <a:prstGeom prst="roundRect">
            <a:avLst>
              <a:gd name="adj" fmla="val 8000"/>
            </a:avLst>
          </a:prstGeom>
          <a:ln w="12700">
            <a:solidFill>
              <a:srgbClr val="CBD5E1"/>
            </a:solidFill>
          </a:ln>
        </p:spPr>
      </p:pic>
      <p:sp>
        <p:nvSpPr>
          <p:cNvPr id="12" name="CaptionAccounts"/>
          <p:cNvSpPr/>
          <p:nvPr/>
        </p:nvSpPr>
        <p:spPr>
          <a:xfrm>
            <a:off x="6242000" y="5150000"/>
            <a:ext cx="5150000" cy="1000000"/>
          </a:xfrm>
          <a:prstGeom prst="roundRect">
            <a:avLst>
              <a:gd name="adj" fmla="val 8000"/>
            </a:avLst>
          </a:prstGeom>
          <a:solidFill>
            <a:srgbClr val="FFFFFF"/>
          </a:solidFill>
          <a:ln w="12700">
            <a:solidFill>
              <a:srgbClr val="E2E8F0"/>
            </a:solidFill>
          </a:ln>
        </p:spPr>
        <p:txBody>
          <a:bodyPr vert="horz" lIns="140000" tIns="120000" rIns="140000" bIns="120000" anchor="t"/>
          <a:lstStyle/>
          <a:p>
            <a:pPr algn="l"/>
            <a:r>
              <a:rPr lang="pt-BR" sz="1000" b="1" i="0">
                <a:solidFill>
                  <a:srgbClr val="1E3A8A"/>
                </a:solidFill>
                <a:latin typeface="Calibri"/>
              </a:rPr>
              <a:t>📸 VÍNCULO DE EMPRESAS E CONTAS: </a:t>
            </a:r>
          </a:p>
          <a:p>
            <a:pPr algn="l"/>
            <a:r>
              <a:rPr lang="pt-BR" sz="950" b="0" i="0">
                <a:solidFill>
                  <a:srgbClr val="475569"/>
                </a:solidFill>
                <a:latin typeface="Calibri"/>
              </a:rPr>
              <a:t>Painel de cadastro onde cada conta contábil do Protheus é vinculada ao respectivo banco, agência e conta corrente para conciliação.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AUDITORIA &amp; RASTREABILIDADE</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Detalhamento e Trilha de Auditoria Linha a Linha</a:t>
            </a:r>
          </a:p>
          <a:p>
            <a:pPr algn="l"/>
            <a:r>
              <a:rPr lang="pt-BR" sz="1100" b="0" i="0">
                <a:solidFill>
                  <a:srgbClr val="64748B"/>
                </a:solidFill>
                <a:latin typeface="Calibri"/>
              </a:rPr>
              <a:t>Inspeção transparente de cada correspondência com evidência bilateral e origem</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14</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pic>
        <p:nvPicPr>
          <p:cNvPr id="10" name="ScreenEvidence"/>
          <p:cNvPicPr>
            <a:picLocks noChangeAspect="1"/>
          </p:cNvPicPr>
          <p:nvPr/>
        </p:nvPicPr>
        <p:blipFill>
          <a:blip r:embed="rIdImg2"/>
          <a:stretch>
            <a:fillRect/>
          </a:stretch>
        </p:blipFill>
        <p:spPr>
          <a:xfrm>
            <a:off x="800000" y="1700000"/>
            <a:ext cx="10592000" cy="3600000"/>
          </a:xfrm>
          <a:prstGeom prst="roundRect">
            <a:avLst>
              <a:gd name="adj" fmla="val 8000"/>
            </a:avLst>
          </a:prstGeom>
          <a:ln w="12700">
            <a:solidFill>
              <a:srgbClr val="CBD5E1"/>
            </a:solidFill>
          </a:ln>
        </p:spPr>
      </p:pic>
      <p:sp>
        <p:nvSpPr>
          <p:cNvPr id="11" name="CardEv1"/>
          <p:cNvSpPr/>
          <p:nvPr/>
        </p:nvSpPr>
        <p:spPr>
          <a:xfrm>
            <a:off x="800000" y="5450000"/>
            <a:ext cx="3350000" cy="850000"/>
          </a:xfrm>
          <a:prstGeom prst="roundRect">
            <a:avLst>
              <a:gd name="adj" fmla="val 8000"/>
            </a:avLst>
          </a:prstGeom>
          <a:solidFill>
            <a:srgbClr val="FFFFFF"/>
          </a:solidFill>
          <a:ln w="12700">
            <a:solidFill>
              <a:srgbClr val="E2E8F0"/>
            </a:solidFill>
          </a:ln>
        </p:spPr>
        <p:txBody>
          <a:bodyPr vert="horz" lIns="140000" tIns="120000" rIns="140000" bIns="120000" anchor="t"/>
          <a:lstStyle/>
          <a:p>
            <a:pPr algn="l">
              <a:spcAft>
                <a:spcPts val="200"/>
              </a:spcAft>
            </a:pPr>
            <a:r>
              <a:rPr lang="pt-BR" sz="1050" b="1" i="0">
                <a:solidFill>
                  <a:srgbClr val="1E3A8A"/>
                </a:solidFill>
                <a:latin typeface="Calibri"/>
              </a:rPr>
              <a:t>🔍 CONFERÊNCIA LADO A LADO</a:t>
            </a:r>
          </a:p>
          <a:p>
            <a:pPr algn="l"/>
            <a:r>
              <a:rPr lang="pt-BR" sz="950" b="0" i="0">
                <a:solidFill>
                  <a:srgbClr val="475569"/>
                </a:solidFill>
                <a:latin typeface="Calibri"/>
              </a:rPr>
              <a:t>Exibe os lançamentos do Razão Protheus e do Extrato Bancário lado a lado.</a:t>
            </a:r>
          </a:p>
        </p:txBody>
      </p:sp>
      <p:sp>
        <p:nvSpPr>
          <p:cNvPr id="12" name="CardEv2"/>
          <p:cNvSpPr/>
          <p:nvPr/>
        </p:nvSpPr>
        <p:spPr>
          <a:xfrm>
            <a:off x="4420000" y="5450000"/>
            <a:ext cx="3350000" cy="850000"/>
          </a:xfrm>
          <a:prstGeom prst="roundRect">
            <a:avLst>
              <a:gd name="adj" fmla="val 8000"/>
            </a:avLst>
          </a:prstGeom>
          <a:solidFill>
            <a:srgbClr val="FFFFFF"/>
          </a:solidFill>
          <a:ln w="12700">
            <a:solidFill>
              <a:srgbClr val="E2E8F0"/>
            </a:solidFill>
          </a:ln>
        </p:spPr>
        <p:txBody>
          <a:bodyPr vert="horz" lIns="140000" tIns="120000" rIns="140000" bIns="120000" anchor="t"/>
          <a:lstStyle/>
          <a:p>
            <a:pPr algn="l">
              <a:spcAft>
                <a:spcPts val="200"/>
              </a:spcAft>
            </a:pPr>
            <a:r>
              <a:rPr lang="pt-BR" sz="1050" b="1" i="0">
                <a:solidFill>
                  <a:srgbClr val="1D4ED8"/>
                </a:solidFill>
                <a:latin typeface="Calibri"/>
              </a:rPr>
              <a:t>🏷️ REGRA &amp; JUSTIFICATIVA</a:t>
            </a:r>
          </a:p>
          <a:p>
            <a:pPr algn="l"/>
            <a:r>
              <a:rPr lang="pt-BR" sz="950" b="0" i="0">
                <a:solidFill>
                  <a:srgbClr val="475569"/>
                </a:solidFill>
                <a:latin typeface="Calibri"/>
              </a:rPr>
              <a:t>Indica a regra aplicada, diferença em centavos, diferença de data e justificativa.</a:t>
            </a:r>
          </a:p>
        </p:txBody>
      </p:sp>
      <p:sp>
        <p:nvSpPr>
          <p:cNvPr id="13" name="CardEv3"/>
          <p:cNvSpPr/>
          <p:nvPr/>
        </p:nvSpPr>
        <p:spPr>
          <a:xfrm>
            <a:off x="8040000" y="5450000"/>
            <a:ext cx="3350000" cy="850000"/>
          </a:xfrm>
          <a:prstGeom prst="roundRect">
            <a:avLst>
              <a:gd name="adj" fmla="val 8000"/>
            </a:avLst>
          </a:prstGeom>
          <a:solidFill>
            <a:srgbClr val="FFFFFF"/>
          </a:solidFill>
          <a:ln w="12700">
            <a:solidFill>
              <a:srgbClr val="E2E8F0"/>
            </a:solidFill>
          </a:ln>
        </p:spPr>
        <p:txBody>
          <a:bodyPr vert="horz" lIns="140000" tIns="120000" rIns="140000" bIns="120000" anchor="t"/>
          <a:lstStyle/>
          <a:p>
            <a:pPr algn="l">
              <a:spcAft>
                <a:spcPts val="200"/>
              </a:spcAft>
            </a:pPr>
            <a:r>
              <a:rPr lang="pt-BR" sz="1050" b="1" i="0">
                <a:solidFill>
                  <a:srgbClr val="059669"/>
                </a:solidFill>
                <a:latin typeface="Calibri"/>
              </a:rPr>
              <a:t>📍 ORIGEM GARANTIDA</a:t>
            </a:r>
          </a:p>
          <a:p>
            <a:pPr algn="l"/>
            <a:r>
              <a:rPr lang="pt-BR" sz="950" b="0" i="0">
                <a:solidFill>
                  <a:srgbClr val="475569"/>
                </a:solidFill>
                <a:latin typeface="Calibri"/>
              </a:rPr>
              <a:t>Preserva o nome do arquivo, aba, número da linha original (ex: Linha 42) e valor bruto.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RESULTADOS OBSERVADOS</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Comparativo de Desempenho &amp; Impacto Operacional</a:t>
            </a:r>
          </a:p>
          <a:p>
            <a:pPr algn="l"/>
            <a:r>
              <a:rPr lang="pt-BR" sz="1100" b="0" i="0">
                <a:solidFill>
                  <a:srgbClr val="64748B"/>
                </a:solidFill>
                <a:latin typeface="Calibri"/>
              </a:rPr>
              <a:t>Ganhos reais de produtividade, capacidade de volume e assertividade das informações</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15</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graphicFrame>
        <p:nvGraphicFramePr>
          <p:cNvPr id="10" name="TableMetrics"/>
          <p:cNvGraphicFramePr>
            <a:graphicFrameLocks noGrp="1"/>
          </p:cNvGraphicFramePr>
          <p:nvPr/>
        </p:nvGraphicFramePr>
        <p:xfrm>
          <a:off x="800000" y="1750000"/>
          <a:ext cx="10592000" cy="3400000"/>
        </p:xfrm>
        <a:graphic>
          <a:graphicData uri="http://schemas.openxmlformats.org/drawingml/2006/table">
            <a:tbl>
              <a:tblPr rtl="0" firstRow="1">
                <a:tableStyleId>{5C22544A-7EE6-4342-B048-85BDC9FD1C3A}</a:tableStyleId>
              </a:tblPr>
              <a:tblGrid>
                <a:gridCol w="2300000"/>
                <a:gridCol w="2500000"/>
                <a:gridCol w="2500000"/>
                <a:gridCol w="3292000"/>
              </a:tblGrid>
              <a:tr h="420000">
                <a:tc>
                  <a:txBody>
                    <a:bodyPr vert="horz" lIns="80000" tIns="60000" rIns="80000" bIns="60000" anchor="ctr"/>
                    <a:lstStyle/>
                    <a:p>
                      <a:pPr algn="ctr"/>
                      <a:r>
                        <a:rPr lang="pt-BR" sz="1050" b="1">
                          <a:solidFill>
                            <a:srgbClr val="FFFFFF"/>
                          </a:solidFill>
                          <a:latin typeface="Calibri"/>
                        </a:rPr>
                        <a:t>Métrica de Avaliação</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Método Tradicional (Manual)</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Solução com IA (DOJO)</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c>
                  <a:txBody>
                    <a:bodyPr vert="horz" lIns="80000" tIns="60000" rIns="80000" bIns="60000" anchor="ctr"/>
                    <a:lstStyle/>
                    <a:p>
                      <a:pPr algn="l"/>
                      <a:r>
                        <a:rPr lang="pt-BR" sz="1050" b="1">
                          <a:solidFill>
                            <a:srgbClr val="FFFFFF"/>
                          </a:solidFill>
                          <a:latin typeface="Calibri"/>
                        </a:rPr>
                        <a:t>Impacto / Ganho Direto</a:t>
                      </a:r>
                    </a:p>
                  </a:txBody>
                  <a:tcPr>
                    <a:solidFill>
                      <a:srgbClr val="1E3A8A"/>
                    </a:solidFill>
                    <a:lnL w="6350">
                      <a:solidFill>
                        <a:srgbClr val="CBD5E1"/>
                      </a:solidFill>
                    </a:lnL>
                    <a:lnR w="6350">
                      <a:solidFill>
                        <a:srgbClr val="CBD5E1"/>
                      </a:solidFill>
                    </a:lnR>
                    <a:lnT w="6350">
                      <a:solidFill>
                        <a:srgbClr val="CBD5E1"/>
                      </a:solidFill>
                    </a:lnT>
                    <a:lnB w="6350">
                      <a:solidFill>
                        <a:srgbClr val="CBD5E1"/>
                      </a:solidFill>
                    </a:lnB>
                  </a:tcPr>
                </a:tc>
              </a:tr>
              <a:tr h="380000">
                <a:tc>
                  <a:txBody>
                    <a:bodyPr vert="horz" lIns="80000" tIns="50000" rIns="80000" bIns="50000" anchor="ctr"/>
                    <a:lstStyle/>
                    <a:p>
                      <a:pPr algn="ctr"/>
                      <a:r>
                        <a:rPr lang="pt-BR" sz="950" b="1">
                          <a:solidFill>
                            <a:srgbClr val="1E3A8A"/>
                          </a:solidFill>
                          <a:latin typeface="Calibri"/>
                        </a:rPr>
                        <a:t>Tempo de Fechamento</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~2 Dias Úteis por Fechamento</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~80 Minutos no total</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Redução drástica do trabalho braçal e repetitivo</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80000">
                <a:tc>
                  <a:txBody>
                    <a:bodyPr vert="horz" lIns="80000" tIns="50000" rIns="80000" bIns="50000" anchor="ctr"/>
                    <a:lstStyle/>
                    <a:p>
                      <a:pPr algn="ctr"/>
                      <a:r>
                        <a:rPr lang="pt-BR" sz="950" b="1">
                          <a:solidFill>
                            <a:srgbClr val="1E3A8A"/>
                          </a:solidFill>
                          <a:latin typeface="Calibri"/>
                        </a:rPr>
                        <a:t>Capacidade de Linhas</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Lento e suscetível à fadiga</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2.057 Linhas em Segundos</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Escalabilidade para absorver todas as 83 contas</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r>
              <a:tr h="380000">
                <a:tc>
                  <a:txBody>
                    <a:bodyPr vert="horz" lIns="80000" tIns="50000" rIns="80000" bIns="50000" anchor="ctr"/>
                    <a:lstStyle/>
                    <a:p>
                      <a:pPr algn="ctr"/>
                      <a:r>
                        <a:rPr lang="pt-BR" sz="950" b="1">
                          <a:solidFill>
                            <a:srgbClr val="1E3A8A"/>
                          </a:solidFill>
                          <a:latin typeface="Calibri"/>
                        </a:rPr>
                        <a:t>Assertividade Numérica</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Risco de erro na conferência</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100% Exato (em Centavos)</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Eliminação de arredondamentos e erros de ponto flutuante</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r h="380000">
                <a:tc>
                  <a:txBody>
                    <a:bodyPr vert="horz" lIns="80000" tIns="50000" rIns="80000" bIns="50000" anchor="ctr"/>
                    <a:lstStyle/>
                    <a:p>
                      <a:pPr algn="ctr"/>
                      <a:r>
                        <a:rPr lang="pt-BR" sz="950" b="1">
                          <a:solidFill>
                            <a:srgbClr val="1E3A8A"/>
                          </a:solidFill>
                          <a:latin typeface="Calibri"/>
                        </a:rPr>
                        <a:t>Papel do Profissional</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Ticagem e conferência mecânica</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Auditoria e Análise Crítica</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Tempo liberado para regularizações contábeis reais</a:t>
                      </a:r>
                    </a:p>
                  </a:txBody>
                  <a:tcPr>
                    <a:solidFill>
                      <a:srgbClr val="F8FAFC"/>
                    </a:solidFill>
                    <a:lnL w="6350">
                      <a:solidFill>
                        <a:srgbClr val="E2E8F0"/>
                      </a:solidFill>
                    </a:lnL>
                    <a:lnR w="6350">
                      <a:solidFill>
                        <a:srgbClr val="E2E8F0"/>
                      </a:solidFill>
                    </a:lnR>
                    <a:lnT w="6350">
                      <a:solidFill>
                        <a:srgbClr val="E2E8F0"/>
                      </a:solidFill>
                    </a:lnT>
                    <a:lnB w="6350">
                      <a:solidFill>
                        <a:srgbClr val="E2E8F0"/>
                      </a:solidFill>
                    </a:lnB>
                  </a:tcPr>
                </a:tc>
              </a:tr>
              <a:tr h="380000">
                <a:tc>
                  <a:txBody>
                    <a:bodyPr vert="horz" lIns="80000" tIns="50000" rIns="80000" bIns="50000" anchor="ctr"/>
                    <a:lstStyle/>
                    <a:p>
                      <a:pPr algn="ctr"/>
                      <a:r>
                        <a:rPr lang="pt-BR" sz="950" b="1">
                          <a:solidFill>
                            <a:srgbClr val="1E3A8A"/>
                          </a:solidFill>
                          <a:latin typeface="Calibri"/>
                        </a:rPr>
                        <a:t>Relatório de Evidências</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Anotações soltas em planilhas</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Excel Padronizado de 9 Abas</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c>
                  <a:txBody>
                    <a:bodyPr vert="horz" lIns="80000" tIns="50000" rIns="80000" bIns="50000" anchor="ctr"/>
                    <a:lstStyle/>
                    <a:p>
                      <a:pPr algn="l"/>
                      <a:r>
                        <a:rPr lang="pt-BR" sz="950" b="0">
                          <a:solidFill>
                            <a:srgbClr val="334155"/>
                          </a:solidFill>
                          <a:latin typeface="Calibri"/>
                        </a:rPr>
                        <a:t>Documentação pronta e auditável para governança</a:t>
                      </a:r>
                    </a:p>
                  </a:txBody>
                  <a:tcPr>
                    <a:solidFill>
                      <a:srgbClr val="FFFFFF"/>
                    </a:solidFill>
                    <a:lnL w="6350">
                      <a:solidFill>
                        <a:srgbClr val="E2E8F0"/>
                      </a:solidFill>
                    </a:lnL>
                    <a:lnR w="6350">
                      <a:solidFill>
                        <a:srgbClr val="E2E8F0"/>
                      </a:solidFill>
                    </a:lnR>
                    <a:lnT w="6350">
                      <a:solidFill>
                        <a:srgbClr val="E2E8F0"/>
                      </a:solidFill>
                    </a:lnT>
                    <a:lnB w="6350">
                      <a:solidFill>
                        <a:srgbClr val="E2E8F0"/>
                      </a:solidFill>
                    </a:lnB>
                  </a:tcPr>
                </a:tc>
              </a:tr>
            </a:tbl>
          </a:graphicData>
        </a:graphic>
      </p:graphicFrame>
      <p:sp>
        <p:nvSpPr>
          <p:cNvPr id="11" name="MetricHighlight"/>
          <p:cNvSpPr/>
          <p:nvPr/>
        </p:nvSpPr>
        <p:spPr>
          <a:xfrm>
            <a:off x="800000" y="5300000"/>
            <a:ext cx="10592000" cy="950000"/>
          </a:xfrm>
          <a:prstGeom prst="roundRect">
            <a:avLst>
              <a:gd name="adj" fmla="val 8000"/>
            </a:avLst>
          </a:prstGeom>
          <a:solidFill>
            <a:srgbClr val="ECFDF5"/>
          </a:solidFill>
          <a:ln w="12700">
            <a:solidFill>
              <a:srgbClr val="10B981"/>
            </a:solidFill>
          </a:ln>
        </p:spPr>
        <p:txBody>
          <a:bodyPr vert="horz" lIns="140000" tIns="120000" rIns="140000" bIns="120000" anchor="t"/>
          <a:lstStyle/>
          <a:p>
            <a:pPr algn="l">
              <a:spcAft>
                <a:spcPts val="200"/>
              </a:spcAft>
            </a:pPr>
            <a:r>
              <a:rPr lang="pt-BR" sz="1100" b="1" i="0">
                <a:solidFill>
                  <a:srgbClr val="065F46"/>
                </a:solidFill>
                <a:latin typeface="Calibri"/>
              </a:rPr>
              <a:t>🚀 IMPACTO OBSERVADO NA CONTA PILOTO:</a:t>
            </a:r>
          </a:p>
          <a:p>
            <a:pPr algn="l"/>
            <a:r>
              <a:rPr lang="pt-BR" sz="1050" b="0" i="0">
                <a:solidFill>
                  <a:srgbClr val="047857"/>
                </a:solidFill>
                <a:latin typeface="Calibri"/>
              </a:rPr>
              <a:t>Em uma única conta com 2.057 linhas, o motor processou e conciliou automaticamente a maior parte das movimentações em segundos, isolando com precisão cirúrgica os poucos lançamentos com divergência real para análise.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8FAFC"/>
          </a:solidFill>
          <a:ln>
            <a:noFill/>
          </a:ln>
        </p:spPr>
        <p:txBody>
          <a:bodyPr vert="horz" lIns="140000" tIns="120000" rIns="140000" bIns="120000" anchor="t"/>
          <a:lstStyle/>
        </p:txBody>
      </p:sp>
      <p:sp>
        <p:nvSpPr>
          <p:cNvPr id="100" name="TopLine"/>
          <p:cNvSpPr/>
          <p:nvPr/>
        </p:nvSpPr>
        <p:spPr>
          <a:xfrm>
            <a:off x="800000" y="320000"/>
            <a:ext cx="10592000" cy="38100"/>
          </a:xfrm>
          <a:prstGeom prst="rect">
            <a:avLst/>
          </a:prstGeom>
          <a:solidFill>
            <a:srgbClr val="E2E8F0"/>
          </a:solidFill>
          <a:ln>
            <a:noFill/>
          </a:ln>
        </p:spPr>
        <p:txBody>
          <a:bodyPr vert="horz" lIns="140000" tIns="120000" rIns="140000" bIns="120000" anchor="t"/>
          <a:lstStyle/>
        </p:txBody>
      </p:sp>
      <p:sp>
        <p:nvSpPr>
          <p:cNvPr id="101" name="Category"/>
          <p:cNvSpPr/>
          <p:nvPr/>
        </p:nvSpPr>
        <p:spPr>
          <a:xfrm>
            <a:off x="800000" y="440000"/>
            <a:ext cx="2600000" cy="300000"/>
          </a:xfrm>
          <a:prstGeom prst="rect">
            <a:avLst/>
          </a:prstGeom>
          <a:noFill/>
          <a:ln>
            <a:noFill/>
          </a:ln>
        </p:spPr>
        <p:txBody>
          <a:bodyPr vert="horz" lIns="140000" tIns="120000" rIns="140000" bIns="120000" anchor="t"/>
          <a:lstStyle/>
          <a:p>
            <a:pPr algn="l"/>
            <a:r>
              <a:rPr lang="pt-BR" sz="1000" b="1">
                <a:solidFill>
                  <a:srgbClr val="D97706"/>
                </a:solidFill>
                <a:latin typeface="Calibri"/>
              </a:rPr>
              <a:t>ROADMAP &amp; ENCERRAMENTO</a:t>
            </a:r>
          </a:p>
        </p:txBody>
      </p:sp>
      <p:sp>
        <p:nvSpPr>
          <p:cNvPr id="102" name="TitleBox"/>
          <p:cNvSpPr/>
          <p:nvPr/>
        </p:nvSpPr>
        <p:spPr>
          <a:xfrm>
            <a:off x="800000" y="720000"/>
            <a:ext cx="9600000" cy="800000"/>
          </a:xfrm>
          <a:prstGeom prst="rect">
            <a:avLst/>
          </a:prstGeom>
          <a:noFill/>
          <a:ln>
            <a:noFill/>
          </a:ln>
        </p:spPr>
        <p:txBody>
          <a:bodyPr vert="horz" lIns="140000" tIns="120000" rIns="140000" bIns="120000" anchor="t"/>
          <a:lstStyle/>
          <a:p>
            <a:pPr algn="l">
              <a:spcAft>
                <a:spcPts val="300"/>
              </a:spcAft>
            </a:pPr>
            <a:r>
              <a:rPr lang="pt-BR" sz="2100" b="1" i="0">
                <a:solidFill>
                  <a:srgbClr val="0F172A"/>
                </a:solidFill>
                <a:latin typeface="Calibri"/>
              </a:rPr>
              <a:t>Onde Estamos e Para Onde Estamos Indo</a:t>
            </a:r>
          </a:p>
          <a:p>
            <a:pPr algn="l"/>
            <a:r>
              <a:rPr lang="pt-BR" sz="1100" b="0" i="0">
                <a:solidFill>
                  <a:srgbClr val="64748B"/>
                </a:solidFill>
                <a:latin typeface="Calibri"/>
              </a:rPr>
              <a:t>Entrega do MVP de 1 conta e evolução planejada para a conciliação tripla integrada</a:t>
            </a:r>
          </a:p>
        </p:txBody>
      </p:sp>
      <p:sp>
        <p:nvSpPr>
          <p:cNvPr id="103" name="SlideNum"/>
          <p:cNvSpPr/>
          <p:nvPr/>
        </p:nvSpPr>
        <p:spPr>
          <a:xfrm>
            <a:off x="10600000" y="440000"/>
            <a:ext cx="800000" cy="400000"/>
          </a:xfrm>
          <a:prstGeom prst="rect">
            <a:avLst/>
          </a:prstGeom>
          <a:noFill/>
          <a:ln>
            <a:noFill/>
          </a:ln>
        </p:spPr>
        <p:txBody>
          <a:bodyPr vert="horz" lIns="140000" tIns="120000" rIns="140000" bIns="120000" anchor="t"/>
          <a:lstStyle/>
          <a:p>
            <a:pPr algn="r"/>
            <a:r>
              <a:rPr lang="pt-BR" sz="1400" b="1">
                <a:solidFill>
                  <a:srgbClr val="94A3B8"/>
                </a:solidFill>
                <a:latin typeface="Calibri"/>
              </a:rPr>
              <a:t>16</a:t>
            </a:r>
          </a:p>
        </p:txBody>
      </p:sp>
      <p:sp>
        <p:nvSpPr>
          <p:cNvPr id="104" name="Footer"/>
          <p:cNvSpPr/>
          <p:nvPr/>
        </p:nvSpPr>
        <p:spPr>
          <a:xfrm>
            <a:off x="800000" y="6420000"/>
            <a:ext cx="10592000" cy="260000"/>
          </a:xfrm>
          <a:prstGeom prst="rect">
            <a:avLst/>
          </a:prstGeom>
          <a:noFill/>
          <a:ln>
            <a:noFill/>
          </a:ln>
        </p:spPr>
        <p:txBody>
          <a:bodyPr vert="horz" lIns="140000" tIns="120000" rIns="140000" bIns="120000" anchor="t"/>
          <a:lstStyle/>
          <a:p>
            <a:pPr algn="l"/>
            <a:r>
              <a:rPr lang="pt-BR" sz="900" b="0">
                <a:solidFill>
                  <a:srgbClr val="94A3B8"/>
                </a:solidFill>
                <a:latin typeface="Calibri"/>
              </a:rPr>
              <a:t>Concilia · Razão Protheus × Extratos Bancários  |  Projeto DOJO de Inteligência Artificial</a:t>
            </a:r>
          </a:p>
        </p:txBody>
      </p:sp>
      <p:sp>
        <p:nvSpPr>
          <p:cNvPr id="10" name="StatusBox"/>
          <p:cNvSpPr/>
          <p:nvPr/>
        </p:nvSpPr>
        <p:spPr>
          <a:xfrm>
            <a:off x="800000" y="1750000"/>
            <a:ext cx="5150000" cy="3300000"/>
          </a:xfrm>
          <a:prstGeom prst="roundRect">
            <a:avLst>
              <a:gd name="adj" fmla="val 10000"/>
            </a:avLst>
          </a:prstGeom>
          <a:solidFill>
            <a:srgbClr val="FFFFFF"/>
          </a:solidFill>
          <a:ln w="25400">
            <a:solidFill>
              <a:srgbClr val="10B981"/>
            </a:solidFill>
          </a:ln>
        </p:spPr>
        <p:txBody>
          <a:bodyPr vert="horz" lIns="140000" tIns="120000" rIns="140000" bIns="120000" anchor="t"/>
          <a:lstStyle/>
          <a:p>
            <a:pPr algn="l">
              <a:spcAft>
                <a:spcPts val="800"/>
              </a:spcAft>
            </a:pPr>
            <a:r>
              <a:rPr lang="pt-BR" sz="1200" b="1" i="0">
                <a:solidFill>
                  <a:srgbClr val="059669"/>
                </a:solidFill>
                <a:latin typeface="Calibri"/>
              </a:rPr>
              <a:t>✅ STATUS ATUAL (ENTREGÁVEL DO DOJO)</a:t>
            </a:r>
          </a:p>
          <a:p>
            <a:pPr algn="l"/>
            <a:r>
              <a:rPr lang="pt-BR" sz="1050" b="0" i="0">
                <a:solidFill>
                  <a:srgbClr val="334155"/>
                </a:solidFill>
                <a:latin typeface="Calibri"/>
              </a:rPr>
              <a:t>• 2 semanas de desenvolvimento efetivo com apoio da IA.
• Pausa planejada na semana anterior para dedicação ao fechamento mensal.
• Entrega nesta semana: MVP com conciliação completa de 1 conta piloto validada (Razão Protheus × Extrato Banco).
• Aplicação Web funcional com drawer de evidências e exportação em Excel.</a:t>
            </a:r>
          </a:p>
        </p:txBody>
      </p:sp>
      <p:sp>
        <p:nvSpPr>
          <p:cNvPr id="11" name="TriplaBox"/>
          <p:cNvSpPr/>
          <p:nvPr/>
        </p:nvSpPr>
        <p:spPr>
          <a:xfrm>
            <a:off x="6242000" y="1750000"/>
            <a:ext cx="5150000" cy="3300000"/>
          </a:xfrm>
          <a:prstGeom prst="roundRect">
            <a:avLst>
              <a:gd name="adj" fmla="val 10000"/>
            </a:avLst>
          </a:prstGeom>
          <a:solidFill>
            <a:srgbClr val="EFF6FF"/>
          </a:solidFill>
          <a:ln w="25400">
            <a:solidFill>
              <a:srgbClr val="3B82F6"/>
            </a:solidFill>
          </a:ln>
        </p:spPr>
        <p:txBody>
          <a:bodyPr vert="horz" lIns="140000" tIns="120000" rIns="140000" bIns="120000" anchor="t"/>
          <a:lstStyle/>
          <a:p>
            <a:pPr algn="l">
              <a:spcAft>
                <a:spcPts val="800"/>
              </a:spcAft>
            </a:pPr>
            <a:r>
              <a:rPr lang="pt-BR" sz="1200" b="1" i="0">
                <a:solidFill>
                  <a:srgbClr val="1D4ED8"/>
                </a:solidFill>
                <a:latin typeface="Calibri"/>
              </a:rPr>
              <a:t>🎯 PRÓXIMO PASSO: CONCILIAÇÃO TRIPLA</a:t>
            </a:r>
          </a:p>
          <a:p>
            <a:pPr algn="l">
              <a:spcAft>
                <a:spcPts val="800"/>
              </a:spcAft>
            </a:pPr>
            <a:r>
              <a:rPr lang="pt-BR" sz="1100" b="1" i="0">
                <a:solidFill>
                  <a:srgbClr val="0F172A"/>
                </a:solidFill>
                <a:latin typeface="Calibri"/>
              </a:rPr>
              <a:t>Extrato Financeiro (SE5) ↔ Razão Contábil (CT2) ↔ Extrato Banco Real</a:t>
            </a:r>
          </a:p>
          <a:p>
            <a:pPr algn="l"/>
            <a:r>
              <a:rPr lang="pt-BR" sz="1050" b="0" i="0">
                <a:solidFill>
                  <a:srgbClr val="334155"/>
                </a:solidFill>
                <a:latin typeface="Calibri"/>
              </a:rPr>
              <a:t>• Garantir que as 3 fontes contenham exatamente o mesmo saldo final.
• Expansão gradual para as 83 contas e 22 bancos.
• Rotinas de conciliação contínua ao longo do mês.</a:t>
            </a:r>
          </a:p>
        </p:txBody>
      </p:sp>
      <p:sp>
        <p:nvSpPr>
          <p:cNvPr id="12" name="FinalConclusion"/>
          <p:cNvSpPr/>
          <p:nvPr/>
        </p:nvSpPr>
        <p:spPr>
          <a:xfrm>
            <a:off x="800000" y="5200000"/>
            <a:ext cx="10592000" cy="1050000"/>
          </a:xfrm>
          <a:prstGeom prst="roundRect">
            <a:avLst>
              <a:gd name="adj" fmla="val 8000"/>
            </a:avLst>
          </a:prstGeom>
          <a:solidFill>
            <a:srgbClr val="0F172A"/>
          </a:solidFill>
          <a:ln>
            <a:noFill/>
          </a:ln>
        </p:spPr>
        <p:txBody>
          <a:bodyPr vert="horz" lIns="140000" tIns="120000" rIns="140000" bIns="120000" anchor="t"/>
          <a:lstStyle/>
          <a:p>
            <a:pPr algn="l">
              <a:spcAft>
                <a:spcPts val="300"/>
              </a:spcAft>
            </a:pPr>
            <a:r>
              <a:rPr lang="pt-BR" sz="1100" b="1" i="0">
                <a:solidFill>
                  <a:srgbClr val="FBBF24"/>
                </a:solidFill>
                <a:latin typeface="Calibri"/>
              </a:rPr>
              <a:t>🏆 CONCLUSÃO DO DOJO DE IA:</a:t>
            </a:r>
          </a:p>
          <a:p>
            <a:pPr algn="l"/>
            <a:r>
              <a:rPr lang="pt-BR" sz="1050" b="0" i="0">
                <a:solidFill>
                  <a:srgbClr val="E2E8F0"/>
                </a:solidFill>
                <a:latin typeface="Calibri"/>
              </a:rPr>
              <a:t>O DOJO provou na prática que a inteligência artificial, quando direcionada por rigor de engenharia de software e domínio de negócio, é capaz de acelerar a entrega de sistemas complexos com altíssimo valor e segurança corporativa.</a:t>
            </a:r>
          </a:p>
        </p:txBody>
      </p:sp>
    </p:spTree>
  </p:cSld>
  <p:clrMapOvr>
    <a:masterClrMapping/>
  </p:clrMapOvr>
</p:sld>
</file>

<file path=ppt/theme/theme1.xml><?xml version="1.0" encoding="utf-8"?>
<a:theme xmlns:a="http://schemas.openxmlformats.org/drawingml/2006/main" name="Concilia Corporate Theme">
  <a:themeElements>
    <a:clrScheme name="Concilia Colors">
      <a:dk1>
        <a:srgbClr val="0F172A"/>
      </a:dk1>
      <a:lt1>
        <a:srgbClr val="FFFFFF"/>
      </a:lt1>
      <a:dk2>
        <a:srgbClr val="1E293B"/>
      </a:dk2>
      <a:lt2>
        <a:srgbClr val="F8FAFC"/>
      </a:lt2>
      <a:accent1>
        <a:srgbClr val="1E3A8A"/>
      </a:accent1>
      <a:accent2>
        <a:srgbClr val="2563EB"/>
      </a:accent2>
      <a:accent3>
        <a:srgbClr val="10B981"/>
      </a:accent3>
      <a:accent4>
        <a:srgbClr val="F59E0B"/>
      </a:accent4>
      <a:accent5>
        <a:srgbClr val="8B5CF6"/>
      </a:accent5>
      <a:accent6>
        <a:srgbClr val="06B6D4"/>
      </a:accent6>
      <a:hlink>
        <a:srgbClr val="2563EB"/>
      </a:hlink>
      <a:folHlink>
        <a:srgbClr val="7C3AED"/>
      </a:folHlink>
    </a:clrScheme>
    <a:fontScheme name="Office">
      <a:majorFont>
        <a:latin typeface="Calibri"/>
      </a:majorFont>
      <a:minorFont>
        <a:latin typeface="Calibri"/>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